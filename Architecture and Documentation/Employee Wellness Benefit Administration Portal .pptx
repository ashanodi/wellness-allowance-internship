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</p:sldIdLst>
  <p:sldSz cx="18288000" cy="10287000"/>
  <p:notesSz cx="6858000" cy="9144000"/>
  <p:embeddedFontLst>
    <p:embeddedFont>
      <p:font typeface="Agrandir" panose="020B0604020202020204" charset="0"/>
      <p:regular r:id="rId30"/>
    </p:embeddedFont>
    <p:embeddedFont>
      <p:font typeface="Agrandir Bold" panose="020B0604020202020204" charset="0"/>
      <p:regular r:id="rId31"/>
    </p:embeddedFont>
    <p:embeddedFont>
      <p:font typeface="Agrandir Grand Bold" panose="020B0604020202020204" charset="0"/>
      <p:regular r:id="rId32"/>
    </p:embeddedFont>
    <p:embeddedFont>
      <p:font typeface="Agrandir Grand Heavy" panose="020B0604020202020204" charset="0"/>
      <p:regular r:id="rId33"/>
    </p:embeddedFont>
    <p:embeddedFont>
      <p:font typeface="Palm Club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93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One trusted place to keep the real information</a:t>
            </a:r>
          </a:p>
          <a:p>
            <a:endParaRPr lang="en-US"/>
          </a:p>
          <a:p>
            <a:r>
              <a:rPr lang="en-US"/>
              <a:t>No more mismatched data or fixing errors by hand</a:t>
            </a:r>
          </a:p>
          <a:p>
            <a:endParaRPr lang="en-US"/>
          </a:p>
          <a:p>
            <a:r>
              <a:rPr lang="en-US"/>
              <a:t>Helps work run smoothly and keeps things well‑managed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Less need to rely on HR for every task</a:t>
            </a:r>
          </a:p>
          <a:p>
            <a:endParaRPr lang="en-US"/>
          </a:p>
          <a:p>
            <a:r>
              <a:rPr lang="en-US"/>
              <a:t>Clearer processes that make employees Satisfy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Keeps things fair, correct, and within the rules</a:t>
            </a:r>
          </a:p>
          <a:p>
            <a:endParaRPr lang="en-US"/>
          </a:p>
          <a:p>
            <a:r>
              <a:rPr lang="en-US"/>
              <a:t>No need to fix mistakes by hand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Quicker response and actions</a:t>
            </a:r>
          </a:p>
          <a:p>
            <a:endParaRPr lang="en-US"/>
          </a:p>
          <a:p>
            <a:r>
              <a:rPr lang="en-US"/>
              <a:t>Well assigned duties and with responsibility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Keeps sensitive employee data safe</a:t>
            </a:r>
          </a:p>
          <a:p>
            <a:endParaRPr lang="en-US"/>
          </a:p>
          <a:p>
            <a:r>
              <a:rPr lang="en-US"/>
              <a:t>Follows strict security rules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Quick decision-making</a:t>
            </a:r>
          </a:p>
          <a:p>
            <a:endParaRPr lang="en-US"/>
          </a:p>
          <a:p>
            <a:r>
              <a:rPr lang="en-US"/>
              <a:t>Always ready for Audit, scalable, and cost-efficient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Eliminates data inconsistency and manual reconciliation</a:t>
            </a:r>
          </a:p>
          <a:p>
            <a:endParaRPr lang="en-US"/>
          </a:p>
          <a:p>
            <a:r>
              <a:rPr lang="en-US"/>
              <a:t>Improves operational efficiency and governance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93573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7" y="0"/>
                </a:lnTo>
                <a:lnTo>
                  <a:pt x="10474737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338357" y="3107529"/>
            <a:ext cx="13611287" cy="509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242424"/>
                </a:solidFill>
                <a:latin typeface="Agrandir Grand Bold"/>
                <a:ea typeface="Agrandir Grand Bold"/>
                <a:cs typeface="Agrandir Grand Bold"/>
                <a:sym typeface="Agrandir Grand Bold"/>
              </a:rPr>
              <a:t>EMPLOYEE WELLNESS BENEFIT ADMINISTRATION PORTAL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69817" y="1640365"/>
            <a:ext cx="6222236" cy="7006270"/>
            <a:chOff x="0" y="0"/>
            <a:chExt cx="1638778" cy="18452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778" cy="1845273"/>
            </a:xfrm>
            <a:custGeom>
              <a:avLst/>
              <a:gdLst/>
              <a:ahLst/>
              <a:cxnLst/>
              <a:rect l="l" t="t" r="r" b="b"/>
              <a:pathLst>
                <a:path w="1638778" h="1845273">
                  <a:moveTo>
                    <a:pt x="31106" y="0"/>
                  </a:moveTo>
                  <a:lnTo>
                    <a:pt x="1607672" y="0"/>
                  </a:lnTo>
                  <a:cubicBezTo>
                    <a:pt x="1624851" y="0"/>
                    <a:pt x="1638778" y="13927"/>
                    <a:pt x="1638778" y="31106"/>
                  </a:cubicBezTo>
                  <a:lnTo>
                    <a:pt x="1638778" y="1814167"/>
                  </a:lnTo>
                  <a:cubicBezTo>
                    <a:pt x="1638778" y="1831346"/>
                    <a:pt x="1624851" y="1845273"/>
                    <a:pt x="1607672" y="1845273"/>
                  </a:cubicBezTo>
                  <a:lnTo>
                    <a:pt x="31106" y="1845273"/>
                  </a:lnTo>
                  <a:cubicBezTo>
                    <a:pt x="13927" y="1845273"/>
                    <a:pt x="0" y="1831346"/>
                    <a:pt x="0" y="1814167"/>
                  </a:cubicBezTo>
                  <a:lnTo>
                    <a:pt x="0" y="31106"/>
                  </a:lnTo>
                  <a:cubicBezTo>
                    <a:pt x="0" y="13927"/>
                    <a:pt x="13927" y="0"/>
                    <a:pt x="31106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638778" cy="1940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72146" y="2176193"/>
            <a:ext cx="6269753" cy="2967307"/>
            <a:chOff x="0" y="0"/>
            <a:chExt cx="1651293" cy="7815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51293" cy="781513"/>
            </a:xfrm>
            <a:custGeom>
              <a:avLst/>
              <a:gdLst/>
              <a:ahLst/>
              <a:cxnLst/>
              <a:rect l="l" t="t" r="r" b="b"/>
              <a:pathLst>
                <a:path w="1651293" h="781513">
                  <a:moveTo>
                    <a:pt x="25931" y="0"/>
                  </a:moveTo>
                  <a:lnTo>
                    <a:pt x="1625362" y="0"/>
                  </a:lnTo>
                  <a:cubicBezTo>
                    <a:pt x="1632239" y="0"/>
                    <a:pt x="1638835" y="2732"/>
                    <a:pt x="1643698" y="7595"/>
                  </a:cubicBezTo>
                  <a:cubicBezTo>
                    <a:pt x="1648561" y="12458"/>
                    <a:pt x="1651293" y="19054"/>
                    <a:pt x="1651293" y="25931"/>
                  </a:cubicBezTo>
                  <a:lnTo>
                    <a:pt x="1651293" y="755582"/>
                  </a:lnTo>
                  <a:cubicBezTo>
                    <a:pt x="1651293" y="762459"/>
                    <a:pt x="1648561" y="769055"/>
                    <a:pt x="1643698" y="773918"/>
                  </a:cubicBezTo>
                  <a:cubicBezTo>
                    <a:pt x="1638835" y="778781"/>
                    <a:pt x="1632239" y="781513"/>
                    <a:pt x="1625362" y="781513"/>
                  </a:cubicBezTo>
                  <a:lnTo>
                    <a:pt x="25931" y="781513"/>
                  </a:lnTo>
                  <a:cubicBezTo>
                    <a:pt x="19054" y="781513"/>
                    <a:pt x="12458" y="778781"/>
                    <a:pt x="7595" y="773918"/>
                  </a:cubicBezTo>
                  <a:cubicBezTo>
                    <a:pt x="2732" y="769055"/>
                    <a:pt x="0" y="762459"/>
                    <a:pt x="0" y="755582"/>
                  </a:cubicBezTo>
                  <a:lnTo>
                    <a:pt x="0" y="25931"/>
                  </a:lnTo>
                  <a:cubicBezTo>
                    <a:pt x="0" y="19054"/>
                    <a:pt x="2732" y="12458"/>
                    <a:pt x="7595" y="7595"/>
                  </a:cubicBezTo>
                  <a:cubicBezTo>
                    <a:pt x="12458" y="2732"/>
                    <a:pt x="19054" y="0"/>
                    <a:pt x="25931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1651293" cy="876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69817" y="3568896"/>
            <a:ext cx="1872556" cy="422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4"/>
              </a:lnSpc>
            </a:pPr>
            <a:r>
              <a:rPr lang="en-US" sz="2117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PROBLEM</a:t>
            </a:r>
          </a:p>
        </p:txBody>
      </p:sp>
      <p:sp>
        <p:nvSpPr>
          <p:cNvPr id="9" name="AutoShape 9"/>
          <p:cNvSpPr/>
          <p:nvPr/>
        </p:nvSpPr>
        <p:spPr>
          <a:xfrm>
            <a:off x="11823323" y="3685538"/>
            <a:ext cx="0" cy="238301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9969817" y="2636937"/>
            <a:ext cx="979139" cy="804674"/>
          </a:xfrm>
          <a:custGeom>
            <a:avLst/>
            <a:gdLst/>
            <a:ahLst/>
            <a:cxnLst/>
            <a:rect l="l" t="t" r="r" b="b"/>
            <a:pathLst>
              <a:path w="979139" h="804674">
                <a:moveTo>
                  <a:pt x="0" y="0"/>
                </a:moveTo>
                <a:lnTo>
                  <a:pt x="979139" y="0"/>
                </a:lnTo>
                <a:lnTo>
                  <a:pt x="979139" y="804674"/>
                </a:lnTo>
                <a:lnTo>
                  <a:pt x="0" y="804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9472146" y="5391150"/>
            <a:ext cx="6269753" cy="2967307"/>
            <a:chOff x="0" y="0"/>
            <a:chExt cx="1651293" cy="7815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51293" cy="781513"/>
            </a:xfrm>
            <a:custGeom>
              <a:avLst/>
              <a:gdLst/>
              <a:ahLst/>
              <a:cxnLst/>
              <a:rect l="l" t="t" r="r" b="b"/>
              <a:pathLst>
                <a:path w="1651293" h="781513">
                  <a:moveTo>
                    <a:pt x="25931" y="0"/>
                  </a:moveTo>
                  <a:lnTo>
                    <a:pt x="1625362" y="0"/>
                  </a:lnTo>
                  <a:cubicBezTo>
                    <a:pt x="1632239" y="0"/>
                    <a:pt x="1638835" y="2732"/>
                    <a:pt x="1643698" y="7595"/>
                  </a:cubicBezTo>
                  <a:cubicBezTo>
                    <a:pt x="1648561" y="12458"/>
                    <a:pt x="1651293" y="19054"/>
                    <a:pt x="1651293" y="25931"/>
                  </a:cubicBezTo>
                  <a:lnTo>
                    <a:pt x="1651293" y="755582"/>
                  </a:lnTo>
                  <a:cubicBezTo>
                    <a:pt x="1651293" y="762459"/>
                    <a:pt x="1648561" y="769055"/>
                    <a:pt x="1643698" y="773918"/>
                  </a:cubicBezTo>
                  <a:cubicBezTo>
                    <a:pt x="1638835" y="778781"/>
                    <a:pt x="1632239" y="781513"/>
                    <a:pt x="1625362" y="781513"/>
                  </a:cubicBezTo>
                  <a:lnTo>
                    <a:pt x="25931" y="781513"/>
                  </a:lnTo>
                  <a:cubicBezTo>
                    <a:pt x="19054" y="781513"/>
                    <a:pt x="12458" y="778781"/>
                    <a:pt x="7595" y="773918"/>
                  </a:cubicBezTo>
                  <a:cubicBezTo>
                    <a:pt x="2732" y="769055"/>
                    <a:pt x="0" y="762459"/>
                    <a:pt x="0" y="755582"/>
                  </a:cubicBezTo>
                  <a:lnTo>
                    <a:pt x="0" y="25931"/>
                  </a:lnTo>
                  <a:cubicBezTo>
                    <a:pt x="0" y="19054"/>
                    <a:pt x="2732" y="12458"/>
                    <a:pt x="7595" y="7595"/>
                  </a:cubicBezTo>
                  <a:cubicBezTo>
                    <a:pt x="12458" y="2732"/>
                    <a:pt x="19054" y="0"/>
                    <a:pt x="25931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651293" cy="876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969817" y="7072199"/>
            <a:ext cx="1872556" cy="563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6"/>
              </a:lnSpc>
            </a:pPr>
            <a:r>
              <a:rPr lang="en-US" sz="2117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CURRENT</a:t>
            </a:r>
          </a:p>
          <a:p>
            <a:pPr algn="l">
              <a:lnSpc>
                <a:spcPts val="1926"/>
              </a:lnSpc>
            </a:pPr>
            <a:r>
              <a:rPr lang="en-US" sz="2117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PROCESS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1823323" y="6900495"/>
            <a:ext cx="0" cy="45834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9969817" y="5657425"/>
            <a:ext cx="1217378" cy="1217378"/>
          </a:xfrm>
          <a:custGeom>
            <a:avLst/>
            <a:gdLst/>
            <a:ahLst/>
            <a:cxnLst/>
            <a:rect l="l" t="t" r="r" b="b"/>
            <a:pathLst>
              <a:path w="1217378" h="1217378">
                <a:moveTo>
                  <a:pt x="0" y="0"/>
                </a:moveTo>
                <a:lnTo>
                  <a:pt x="1217378" y="0"/>
                </a:lnTo>
                <a:lnTo>
                  <a:pt x="1217378" y="1217378"/>
                </a:lnTo>
                <a:lnTo>
                  <a:pt x="0" y="1217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635757" y="4528249"/>
            <a:ext cx="7508243" cy="120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A PROBLEM WORTH SOLVING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35757" y="3932307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21181" y="2771947"/>
            <a:ext cx="3264438" cy="1690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90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At present, the Finance Department at WealthOS Lanka manages employee wellness allowances through a manual process.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21181" y="5821635"/>
            <a:ext cx="3640015" cy="2020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90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The current manual, Excel-based claim review process limits employee visibility into claim status and significantly increases processing time for the Finance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76359">
            <a:off x="-227560" y="455732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7" y="0"/>
                </a:lnTo>
                <a:lnTo>
                  <a:pt x="10474737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828180" y="3586177"/>
            <a:ext cx="12149671" cy="5212938"/>
            <a:chOff x="0" y="0"/>
            <a:chExt cx="3199913" cy="13729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99913" cy="1372955"/>
            </a:xfrm>
            <a:custGeom>
              <a:avLst/>
              <a:gdLst/>
              <a:ahLst/>
              <a:cxnLst/>
              <a:rect l="l" t="t" r="r" b="b"/>
              <a:pathLst>
                <a:path w="3199913" h="1372955">
                  <a:moveTo>
                    <a:pt x="15930" y="0"/>
                  </a:moveTo>
                  <a:lnTo>
                    <a:pt x="3183983" y="0"/>
                  </a:lnTo>
                  <a:cubicBezTo>
                    <a:pt x="3192781" y="0"/>
                    <a:pt x="3199913" y="7132"/>
                    <a:pt x="3199913" y="15930"/>
                  </a:cubicBezTo>
                  <a:lnTo>
                    <a:pt x="3199913" y="1357025"/>
                  </a:lnTo>
                  <a:cubicBezTo>
                    <a:pt x="3199913" y="1365823"/>
                    <a:pt x="3192781" y="1372955"/>
                    <a:pt x="3183983" y="1372955"/>
                  </a:cubicBezTo>
                  <a:lnTo>
                    <a:pt x="15930" y="1372955"/>
                  </a:lnTo>
                  <a:cubicBezTo>
                    <a:pt x="7132" y="1372955"/>
                    <a:pt x="0" y="1365823"/>
                    <a:pt x="0" y="1357025"/>
                  </a:cubicBezTo>
                  <a:lnTo>
                    <a:pt x="0" y="15930"/>
                  </a:lnTo>
                  <a:cubicBezTo>
                    <a:pt x="0" y="7132"/>
                    <a:pt x="7132" y="0"/>
                    <a:pt x="15930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3199913" cy="1468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16269" y="2906255"/>
            <a:ext cx="12276335" cy="5490382"/>
            <a:chOff x="0" y="0"/>
            <a:chExt cx="3233273" cy="14460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33273" cy="1446027"/>
            </a:xfrm>
            <a:custGeom>
              <a:avLst/>
              <a:gdLst/>
              <a:ahLst/>
              <a:cxnLst/>
              <a:rect l="l" t="t" r="r" b="b"/>
              <a:pathLst>
                <a:path w="3233273" h="1446027">
                  <a:moveTo>
                    <a:pt x="18288" y="0"/>
                  </a:moveTo>
                  <a:lnTo>
                    <a:pt x="3214985" y="0"/>
                  </a:lnTo>
                  <a:cubicBezTo>
                    <a:pt x="3225085" y="0"/>
                    <a:pt x="3233273" y="8188"/>
                    <a:pt x="3233273" y="18288"/>
                  </a:cubicBezTo>
                  <a:lnTo>
                    <a:pt x="3233273" y="1427738"/>
                  </a:lnTo>
                  <a:cubicBezTo>
                    <a:pt x="3233273" y="1437838"/>
                    <a:pt x="3225085" y="1446027"/>
                    <a:pt x="3214985" y="1446027"/>
                  </a:cubicBezTo>
                  <a:lnTo>
                    <a:pt x="18288" y="1446027"/>
                  </a:lnTo>
                  <a:cubicBezTo>
                    <a:pt x="13438" y="1446027"/>
                    <a:pt x="8786" y="1444100"/>
                    <a:pt x="5357" y="1440670"/>
                  </a:cubicBezTo>
                  <a:cubicBezTo>
                    <a:pt x="1927" y="1437240"/>
                    <a:pt x="0" y="1432589"/>
                    <a:pt x="0" y="1427738"/>
                  </a:cubicBezTo>
                  <a:lnTo>
                    <a:pt x="0" y="18288"/>
                  </a:lnTo>
                  <a:cubicBezTo>
                    <a:pt x="0" y="8188"/>
                    <a:pt x="8188" y="0"/>
                    <a:pt x="18288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3233273" cy="1541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735437" y="3482757"/>
            <a:ext cx="1033592" cy="1020437"/>
          </a:xfrm>
          <a:custGeom>
            <a:avLst/>
            <a:gdLst/>
            <a:ahLst/>
            <a:cxnLst/>
            <a:rect l="l" t="t" r="r" b="b"/>
            <a:pathLst>
              <a:path w="1033592" h="1020437">
                <a:moveTo>
                  <a:pt x="0" y="0"/>
                </a:moveTo>
                <a:lnTo>
                  <a:pt x="1033592" y="0"/>
                </a:lnTo>
                <a:lnTo>
                  <a:pt x="1033592" y="1020437"/>
                </a:lnTo>
                <a:lnTo>
                  <a:pt x="0" y="10204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389878" y="1500817"/>
            <a:ext cx="7508243" cy="67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OUR SOLUTION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80480" y="904875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35437" y="4670607"/>
            <a:ext cx="6408563" cy="796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999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WEB BASED WELLNESS MANAGEMENT PLATFORM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16269" y="5543780"/>
            <a:ext cx="11698524" cy="2892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8972" lvl="1" indent="-279486" algn="l">
              <a:lnSpc>
                <a:spcPts val="3624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Single, web-based system to manage all employee wellness allowances</a:t>
            </a:r>
          </a:p>
          <a:p>
            <a:pPr marL="558972" lvl="1" indent="-279486" algn="l">
              <a:lnSpc>
                <a:spcPts val="3624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Replaces manual Excel sheets, emails, and paper-based tracking</a:t>
            </a:r>
          </a:p>
          <a:p>
            <a:pPr marL="558972" lvl="1" indent="-279486" algn="l">
              <a:lnSpc>
                <a:spcPts val="3624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Acts as a single source of truth for employees, HR, and Finance</a:t>
            </a:r>
          </a:p>
          <a:p>
            <a:pPr marL="558972" lvl="1" indent="-279486" algn="l">
              <a:lnSpc>
                <a:spcPts val="3624"/>
              </a:lnSpc>
              <a:buFont typeface="Arial"/>
              <a:buChar char="•"/>
            </a:pPr>
            <a:r>
              <a:rPr lang="en-US" sz="258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Accessible across the APAC region through a secure web portal</a:t>
            </a:r>
          </a:p>
          <a:p>
            <a:pPr algn="ctr">
              <a:lnSpc>
                <a:spcPts val="4044"/>
              </a:lnSpc>
            </a:pPr>
            <a:endParaRPr lang="en-US" sz="2589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ctr">
              <a:lnSpc>
                <a:spcPts val="4044"/>
              </a:lnSpc>
              <a:spcBef>
                <a:spcPct val="0"/>
              </a:spcBef>
            </a:pPr>
            <a:endParaRPr lang="en-US" sz="2589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41395" flipH="1" flipV="1">
            <a:off x="10087768" y="-3032886"/>
            <a:ext cx="10989677" cy="15344078"/>
          </a:xfrm>
          <a:custGeom>
            <a:avLst/>
            <a:gdLst/>
            <a:ahLst/>
            <a:cxnLst/>
            <a:rect l="l" t="t" r="r" b="b"/>
            <a:pathLst>
              <a:path w="10989677" h="15344078">
                <a:moveTo>
                  <a:pt x="10989678" y="15344078"/>
                </a:moveTo>
                <a:lnTo>
                  <a:pt x="0" y="15344078"/>
                </a:lnTo>
                <a:lnTo>
                  <a:pt x="0" y="0"/>
                </a:lnTo>
                <a:lnTo>
                  <a:pt x="10989678" y="0"/>
                </a:lnTo>
                <a:lnTo>
                  <a:pt x="10989678" y="153440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046060" y="3799074"/>
            <a:ext cx="7097940" cy="83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5195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KEY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46060" y="3280599"/>
            <a:ext cx="1603495" cy="56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7296" y="7799911"/>
            <a:ext cx="2614166" cy="395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198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+123-456-7890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21088" y="7799911"/>
            <a:ext cx="3589526" cy="397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84"/>
              </a:lnSpc>
            </a:pPr>
            <a:r>
              <a:rPr lang="en-US" sz="198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helllo@reallygreatsite.com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76359">
            <a:off x="-4208668" y="271615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6" y="0"/>
                </a:lnTo>
                <a:lnTo>
                  <a:pt x="10474736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90575" y="310741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04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90575" y="2115867"/>
            <a:ext cx="16468725" cy="5449250"/>
            <a:chOff x="0" y="0"/>
            <a:chExt cx="4337442" cy="14351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37442" cy="1435194"/>
            </a:xfrm>
            <a:custGeom>
              <a:avLst/>
              <a:gdLst/>
              <a:ahLst/>
              <a:cxnLst/>
              <a:rect l="l" t="t" r="r" b="b"/>
              <a:pathLst>
                <a:path w="4337442" h="1435194">
                  <a:moveTo>
                    <a:pt x="11752" y="0"/>
                  </a:moveTo>
                  <a:lnTo>
                    <a:pt x="4325689" y="0"/>
                  </a:lnTo>
                  <a:cubicBezTo>
                    <a:pt x="4332180" y="0"/>
                    <a:pt x="4337442" y="5262"/>
                    <a:pt x="4337442" y="11752"/>
                  </a:cubicBezTo>
                  <a:lnTo>
                    <a:pt x="4337442" y="1423441"/>
                  </a:lnTo>
                  <a:cubicBezTo>
                    <a:pt x="4337442" y="1426558"/>
                    <a:pt x="4336204" y="1429547"/>
                    <a:pt x="4334000" y="1431751"/>
                  </a:cubicBezTo>
                  <a:cubicBezTo>
                    <a:pt x="4331796" y="1433955"/>
                    <a:pt x="4328806" y="1435194"/>
                    <a:pt x="4325689" y="1435194"/>
                  </a:cubicBezTo>
                  <a:lnTo>
                    <a:pt x="11752" y="1435194"/>
                  </a:lnTo>
                  <a:cubicBezTo>
                    <a:pt x="5262" y="1435194"/>
                    <a:pt x="0" y="1429932"/>
                    <a:pt x="0" y="1423441"/>
                  </a:cubicBezTo>
                  <a:lnTo>
                    <a:pt x="0" y="11752"/>
                  </a:lnTo>
                  <a:cubicBezTo>
                    <a:pt x="0" y="5262"/>
                    <a:pt x="5262" y="0"/>
                    <a:pt x="11752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4337442" cy="1530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211902"/>
            <a:ext cx="15715552" cy="3766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Anytime, anywhere claim submission from any device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Claim submission with validations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Supports Preventive &amp; Curative care categories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Secure upload of receipts and medical documents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View Total entitlement, utilized amount &amp; available balance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Pending claims and claim status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Key Value: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Reduces dependency on HR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Improves transparency and employee satisfaction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790575" y="1069547"/>
            <a:ext cx="6883684" cy="913094"/>
            <a:chOff x="0" y="0"/>
            <a:chExt cx="1812987" cy="2404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12987" cy="240486"/>
            </a:xfrm>
            <a:custGeom>
              <a:avLst/>
              <a:gdLst/>
              <a:ahLst/>
              <a:cxnLst/>
              <a:rect l="l" t="t" r="r" b="b"/>
              <a:pathLst>
                <a:path w="1812987" h="240486">
                  <a:moveTo>
                    <a:pt x="32616" y="0"/>
                  </a:moveTo>
                  <a:lnTo>
                    <a:pt x="1780371" y="0"/>
                  </a:lnTo>
                  <a:cubicBezTo>
                    <a:pt x="1798384" y="0"/>
                    <a:pt x="1812987" y="14603"/>
                    <a:pt x="1812987" y="32616"/>
                  </a:cubicBezTo>
                  <a:lnTo>
                    <a:pt x="1812987" y="207870"/>
                  </a:lnTo>
                  <a:cubicBezTo>
                    <a:pt x="1812987" y="216520"/>
                    <a:pt x="1809551" y="224816"/>
                    <a:pt x="1803434" y="230933"/>
                  </a:cubicBezTo>
                  <a:cubicBezTo>
                    <a:pt x="1797317" y="237049"/>
                    <a:pt x="1789021" y="240486"/>
                    <a:pt x="1780371" y="240486"/>
                  </a:cubicBezTo>
                  <a:lnTo>
                    <a:pt x="32616" y="240486"/>
                  </a:lnTo>
                  <a:cubicBezTo>
                    <a:pt x="14603" y="240486"/>
                    <a:pt x="0" y="225883"/>
                    <a:pt x="0" y="207870"/>
                  </a:cubicBezTo>
                  <a:lnTo>
                    <a:pt x="0" y="32616"/>
                  </a:lnTo>
                  <a:cubicBezTo>
                    <a:pt x="0" y="14603"/>
                    <a:pt x="14603" y="0"/>
                    <a:pt x="32616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42875"/>
              <a:ext cx="1812987" cy="383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1. Employee Self Service &amp; Visibility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76359">
            <a:off x="-4208668" y="271615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6" y="0"/>
                </a:lnTo>
                <a:lnTo>
                  <a:pt x="10474736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90575" y="310741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05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90575" y="2151491"/>
            <a:ext cx="16468725" cy="5449250"/>
            <a:chOff x="0" y="0"/>
            <a:chExt cx="4337442" cy="14351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37442" cy="1435194"/>
            </a:xfrm>
            <a:custGeom>
              <a:avLst/>
              <a:gdLst/>
              <a:ahLst/>
              <a:cxnLst/>
              <a:rect l="l" t="t" r="r" b="b"/>
              <a:pathLst>
                <a:path w="4337442" h="1435194">
                  <a:moveTo>
                    <a:pt x="11752" y="0"/>
                  </a:moveTo>
                  <a:lnTo>
                    <a:pt x="4325689" y="0"/>
                  </a:lnTo>
                  <a:cubicBezTo>
                    <a:pt x="4332180" y="0"/>
                    <a:pt x="4337442" y="5262"/>
                    <a:pt x="4337442" y="11752"/>
                  </a:cubicBezTo>
                  <a:lnTo>
                    <a:pt x="4337442" y="1423441"/>
                  </a:lnTo>
                  <a:cubicBezTo>
                    <a:pt x="4337442" y="1426558"/>
                    <a:pt x="4336204" y="1429547"/>
                    <a:pt x="4334000" y="1431751"/>
                  </a:cubicBezTo>
                  <a:cubicBezTo>
                    <a:pt x="4331796" y="1433955"/>
                    <a:pt x="4328806" y="1435194"/>
                    <a:pt x="4325689" y="1435194"/>
                  </a:cubicBezTo>
                  <a:lnTo>
                    <a:pt x="11752" y="1435194"/>
                  </a:lnTo>
                  <a:cubicBezTo>
                    <a:pt x="5262" y="1435194"/>
                    <a:pt x="0" y="1429932"/>
                    <a:pt x="0" y="1423441"/>
                  </a:cubicBezTo>
                  <a:lnTo>
                    <a:pt x="0" y="11752"/>
                  </a:lnTo>
                  <a:cubicBezTo>
                    <a:pt x="0" y="5262"/>
                    <a:pt x="5262" y="0"/>
                    <a:pt x="11752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4337442" cy="1530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247526"/>
            <a:ext cx="15715552" cy="3766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Automatic enforcement of wellness policy rules</a:t>
            </a:r>
          </a:p>
          <a:p>
            <a:pPr marL="906780" lvl="2" indent="-302260" algn="l">
              <a:lnSpc>
                <a:spcPts val="2940"/>
              </a:lnSpc>
              <a:buAutoNum type="alphaL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LKR 150,000 annual entitlement</a:t>
            </a:r>
          </a:p>
          <a:p>
            <a:pPr marL="906780" lvl="2" indent="-302260" algn="l">
              <a:lnSpc>
                <a:spcPts val="2940"/>
              </a:lnSpc>
              <a:buAutoNum type="alphaL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65% max Curative / 35% min Preventive allocation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Prevents over-claiming and invalid submissions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Pro-rated entitlement calculation for mid-year joiners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Monthly accrual logic and annual reset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Key Value: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Ensures fairness, accuracy, and policy compliance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Eliminates manual corrections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790575" y="1124159"/>
            <a:ext cx="11266591" cy="913094"/>
            <a:chOff x="0" y="0"/>
            <a:chExt cx="2967333" cy="2404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67333" cy="240486"/>
            </a:xfrm>
            <a:custGeom>
              <a:avLst/>
              <a:gdLst/>
              <a:ahLst/>
              <a:cxnLst/>
              <a:rect l="l" t="t" r="r" b="b"/>
              <a:pathLst>
                <a:path w="2967333" h="240486">
                  <a:moveTo>
                    <a:pt x="19928" y="0"/>
                  </a:moveTo>
                  <a:lnTo>
                    <a:pt x="2947405" y="0"/>
                  </a:lnTo>
                  <a:cubicBezTo>
                    <a:pt x="2958411" y="0"/>
                    <a:pt x="2967333" y="8922"/>
                    <a:pt x="2967333" y="19928"/>
                  </a:cubicBezTo>
                  <a:lnTo>
                    <a:pt x="2967333" y="220558"/>
                  </a:lnTo>
                  <a:cubicBezTo>
                    <a:pt x="2967333" y="225843"/>
                    <a:pt x="2965233" y="230912"/>
                    <a:pt x="2961496" y="234649"/>
                  </a:cubicBezTo>
                  <a:cubicBezTo>
                    <a:pt x="2957759" y="238386"/>
                    <a:pt x="2952690" y="240486"/>
                    <a:pt x="2947405" y="240486"/>
                  </a:cubicBezTo>
                  <a:lnTo>
                    <a:pt x="19928" y="240486"/>
                  </a:lnTo>
                  <a:cubicBezTo>
                    <a:pt x="14642" y="240486"/>
                    <a:pt x="9574" y="238386"/>
                    <a:pt x="5837" y="234649"/>
                  </a:cubicBezTo>
                  <a:cubicBezTo>
                    <a:pt x="2100" y="230912"/>
                    <a:pt x="0" y="225843"/>
                    <a:pt x="0" y="220558"/>
                  </a:cubicBezTo>
                  <a:lnTo>
                    <a:pt x="0" y="19928"/>
                  </a:lnTo>
                  <a:cubicBezTo>
                    <a:pt x="0" y="14642"/>
                    <a:pt x="2100" y="9574"/>
                    <a:pt x="5837" y="5837"/>
                  </a:cubicBezTo>
                  <a:cubicBezTo>
                    <a:pt x="9574" y="2100"/>
                    <a:pt x="14642" y="0"/>
                    <a:pt x="19928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42875"/>
              <a:ext cx="2967333" cy="383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2. Automated Policy Validation &amp; Entitlement Management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76359">
            <a:off x="-4208668" y="271615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6" y="0"/>
                </a:lnTo>
                <a:lnTo>
                  <a:pt x="10474736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90575" y="310741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06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90575" y="2115867"/>
            <a:ext cx="16468725" cy="5449250"/>
            <a:chOff x="0" y="0"/>
            <a:chExt cx="4337442" cy="14351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37442" cy="1435194"/>
            </a:xfrm>
            <a:custGeom>
              <a:avLst/>
              <a:gdLst/>
              <a:ahLst/>
              <a:cxnLst/>
              <a:rect l="l" t="t" r="r" b="b"/>
              <a:pathLst>
                <a:path w="4337442" h="1435194">
                  <a:moveTo>
                    <a:pt x="11752" y="0"/>
                  </a:moveTo>
                  <a:lnTo>
                    <a:pt x="4325689" y="0"/>
                  </a:lnTo>
                  <a:cubicBezTo>
                    <a:pt x="4332180" y="0"/>
                    <a:pt x="4337442" y="5262"/>
                    <a:pt x="4337442" y="11752"/>
                  </a:cubicBezTo>
                  <a:lnTo>
                    <a:pt x="4337442" y="1423441"/>
                  </a:lnTo>
                  <a:cubicBezTo>
                    <a:pt x="4337442" y="1426558"/>
                    <a:pt x="4336204" y="1429547"/>
                    <a:pt x="4334000" y="1431751"/>
                  </a:cubicBezTo>
                  <a:cubicBezTo>
                    <a:pt x="4331796" y="1433955"/>
                    <a:pt x="4328806" y="1435194"/>
                    <a:pt x="4325689" y="1435194"/>
                  </a:cubicBezTo>
                  <a:lnTo>
                    <a:pt x="11752" y="1435194"/>
                  </a:lnTo>
                  <a:cubicBezTo>
                    <a:pt x="5262" y="1435194"/>
                    <a:pt x="0" y="1429932"/>
                    <a:pt x="0" y="1423441"/>
                  </a:cubicBezTo>
                  <a:lnTo>
                    <a:pt x="0" y="11752"/>
                  </a:lnTo>
                  <a:cubicBezTo>
                    <a:pt x="0" y="5262"/>
                    <a:pt x="5262" y="0"/>
                    <a:pt x="11752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4337442" cy="1530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211902"/>
            <a:ext cx="15715552" cy="413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Multi-stage approval flow: Employee → HR Head → Finance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Role-based access control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Rejections with comments for transparency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Claim submission and approval/rejection alerts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Finance settlement notifications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Balance thresholds and deadlines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Key Value: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Quicker response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Well assigned duties with responsibility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790575" y="1069485"/>
            <a:ext cx="9444146" cy="913094"/>
            <a:chOff x="0" y="0"/>
            <a:chExt cx="2487347" cy="2404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87347" cy="240486"/>
            </a:xfrm>
            <a:custGeom>
              <a:avLst/>
              <a:gdLst/>
              <a:ahLst/>
              <a:cxnLst/>
              <a:rect l="l" t="t" r="r" b="b"/>
              <a:pathLst>
                <a:path w="2487347" h="240486">
                  <a:moveTo>
                    <a:pt x="23773" y="0"/>
                  </a:moveTo>
                  <a:lnTo>
                    <a:pt x="2463574" y="0"/>
                  </a:lnTo>
                  <a:cubicBezTo>
                    <a:pt x="2469879" y="0"/>
                    <a:pt x="2475926" y="2505"/>
                    <a:pt x="2480384" y="6963"/>
                  </a:cubicBezTo>
                  <a:cubicBezTo>
                    <a:pt x="2484842" y="11421"/>
                    <a:pt x="2487347" y="17468"/>
                    <a:pt x="2487347" y="23773"/>
                  </a:cubicBezTo>
                  <a:lnTo>
                    <a:pt x="2487347" y="216713"/>
                  </a:lnTo>
                  <a:cubicBezTo>
                    <a:pt x="2487347" y="223018"/>
                    <a:pt x="2484842" y="229064"/>
                    <a:pt x="2480384" y="233523"/>
                  </a:cubicBezTo>
                  <a:cubicBezTo>
                    <a:pt x="2475926" y="237981"/>
                    <a:pt x="2469879" y="240486"/>
                    <a:pt x="2463574" y="240486"/>
                  </a:cubicBezTo>
                  <a:lnTo>
                    <a:pt x="23773" y="240486"/>
                  </a:lnTo>
                  <a:cubicBezTo>
                    <a:pt x="17468" y="240486"/>
                    <a:pt x="11421" y="237981"/>
                    <a:pt x="6963" y="233523"/>
                  </a:cubicBezTo>
                  <a:cubicBezTo>
                    <a:pt x="2505" y="229064"/>
                    <a:pt x="0" y="223018"/>
                    <a:pt x="0" y="216713"/>
                  </a:cubicBezTo>
                  <a:lnTo>
                    <a:pt x="0" y="23773"/>
                  </a:lnTo>
                  <a:cubicBezTo>
                    <a:pt x="0" y="17468"/>
                    <a:pt x="2505" y="11421"/>
                    <a:pt x="6963" y="6963"/>
                  </a:cubicBezTo>
                  <a:cubicBezTo>
                    <a:pt x="11421" y="2505"/>
                    <a:pt x="17468" y="0"/>
                    <a:pt x="23773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42875"/>
              <a:ext cx="2487347" cy="383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3. Approval Workflow &amp; Automated Notifications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76359">
            <a:off x="-4208668" y="271615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6" y="0"/>
                </a:lnTo>
                <a:lnTo>
                  <a:pt x="10474736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90575" y="310741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07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90575" y="2134917"/>
            <a:ext cx="16468725" cy="5449250"/>
            <a:chOff x="0" y="0"/>
            <a:chExt cx="4337442" cy="14351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37442" cy="1435194"/>
            </a:xfrm>
            <a:custGeom>
              <a:avLst/>
              <a:gdLst/>
              <a:ahLst/>
              <a:cxnLst/>
              <a:rect l="l" t="t" r="r" b="b"/>
              <a:pathLst>
                <a:path w="4337442" h="1435194">
                  <a:moveTo>
                    <a:pt x="11752" y="0"/>
                  </a:moveTo>
                  <a:lnTo>
                    <a:pt x="4325689" y="0"/>
                  </a:lnTo>
                  <a:cubicBezTo>
                    <a:pt x="4332180" y="0"/>
                    <a:pt x="4337442" y="5262"/>
                    <a:pt x="4337442" y="11752"/>
                  </a:cubicBezTo>
                  <a:lnTo>
                    <a:pt x="4337442" y="1423441"/>
                  </a:lnTo>
                  <a:cubicBezTo>
                    <a:pt x="4337442" y="1426558"/>
                    <a:pt x="4336204" y="1429547"/>
                    <a:pt x="4334000" y="1431751"/>
                  </a:cubicBezTo>
                  <a:cubicBezTo>
                    <a:pt x="4331796" y="1433955"/>
                    <a:pt x="4328806" y="1435194"/>
                    <a:pt x="4325689" y="1435194"/>
                  </a:cubicBezTo>
                  <a:lnTo>
                    <a:pt x="11752" y="1435194"/>
                  </a:lnTo>
                  <a:cubicBezTo>
                    <a:pt x="5262" y="1435194"/>
                    <a:pt x="0" y="1429932"/>
                    <a:pt x="0" y="1423441"/>
                  </a:cubicBezTo>
                  <a:lnTo>
                    <a:pt x="0" y="11752"/>
                  </a:lnTo>
                  <a:cubicBezTo>
                    <a:pt x="0" y="5262"/>
                    <a:pt x="5262" y="0"/>
                    <a:pt x="11752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4337442" cy="1530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230952"/>
            <a:ext cx="15715552" cy="339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Secure storage of receipts and medical documents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Encrypted cloud storage with role-based access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Complete digital audit trail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Single Sign-On (SSO) and secure authentication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Data encryption in transit and at rest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Key Value: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Protects sensitive employee data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Meets enterprise-grade security and compliance standards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790575" y="1098060"/>
            <a:ext cx="9730315" cy="913094"/>
            <a:chOff x="0" y="0"/>
            <a:chExt cx="2562717" cy="2404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62717" cy="240486"/>
            </a:xfrm>
            <a:custGeom>
              <a:avLst/>
              <a:gdLst/>
              <a:ahLst/>
              <a:cxnLst/>
              <a:rect l="l" t="t" r="r" b="b"/>
              <a:pathLst>
                <a:path w="2562717" h="240486">
                  <a:moveTo>
                    <a:pt x="23074" y="0"/>
                  </a:moveTo>
                  <a:lnTo>
                    <a:pt x="2539643" y="0"/>
                  </a:lnTo>
                  <a:cubicBezTo>
                    <a:pt x="2545762" y="0"/>
                    <a:pt x="2551631" y="2431"/>
                    <a:pt x="2555959" y="6758"/>
                  </a:cubicBezTo>
                  <a:cubicBezTo>
                    <a:pt x="2560286" y="11085"/>
                    <a:pt x="2562717" y="16954"/>
                    <a:pt x="2562717" y="23074"/>
                  </a:cubicBezTo>
                  <a:lnTo>
                    <a:pt x="2562717" y="217412"/>
                  </a:lnTo>
                  <a:cubicBezTo>
                    <a:pt x="2562717" y="230155"/>
                    <a:pt x="2552386" y="240486"/>
                    <a:pt x="2539643" y="240486"/>
                  </a:cubicBezTo>
                  <a:lnTo>
                    <a:pt x="23074" y="240486"/>
                  </a:lnTo>
                  <a:cubicBezTo>
                    <a:pt x="10331" y="240486"/>
                    <a:pt x="0" y="230155"/>
                    <a:pt x="0" y="217412"/>
                  </a:cubicBezTo>
                  <a:lnTo>
                    <a:pt x="0" y="23074"/>
                  </a:lnTo>
                  <a:cubicBezTo>
                    <a:pt x="0" y="10331"/>
                    <a:pt x="10331" y="0"/>
                    <a:pt x="23074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42875"/>
              <a:ext cx="2562717" cy="383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4. Security, Compliance &amp; Document Management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76359">
            <a:off x="-4208668" y="271615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6" y="0"/>
                </a:lnTo>
                <a:lnTo>
                  <a:pt x="10474736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90575" y="310741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08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90575" y="2355988"/>
            <a:ext cx="16468725" cy="5554681"/>
            <a:chOff x="0" y="0"/>
            <a:chExt cx="4337442" cy="14629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37442" cy="1462961"/>
            </a:xfrm>
            <a:custGeom>
              <a:avLst/>
              <a:gdLst/>
              <a:ahLst/>
              <a:cxnLst/>
              <a:rect l="l" t="t" r="r" b="b"/>
              <a:pathLst>
                <a:path w="4337442" h="1462961">
                  <a:moveTo>
                    <a:pt x="11752" y="0"/>
                  </a:moveTo>
                  <a:lnTo>
                    <a:pt x="4325689" y="0"/>
                  </a:lnTo>
                  <a:cubicBezTo>
                    <a:pt x="4332180" y="0"/>
                    <a:pt x="4337442" y="5262"/>
                    <a:pt x="4337442" y="11752"/>
                  </a:cubicBezTo>
                  <a:lnTo>
                    <a:pt x="4337442" y="1451209"/>
                  </a:lnTo>
                  <a:cubicBezTo>
                    <a:pt x="4337442" y="1454326"/>
                    <a:pt x="4336204" y="1457315"/>
                    <a:pt x="4334000" y="1459519"/>
                  </a:cubicBezTo>
                  <a:cubicBezTo>
                    <a:pt x="4331796" y="1461723"/>
                    <a:pt x="4328806" y="1462961"/>
                    <a:pt x="4325689" y="1462961"/>
                  </a:cubicBezTo>
                  <a:lnTo>
                    <a:pt x="11752" y="1462961"/>
                  </a:lnTo>
                  <a:cubicBezTo>
                    <a:pt x="5262" y="1462961"/>
                    <a:pt x="0" y="1457699"/>
                    <a:pt x="0" y="1451209"/>
                  </a:cubicBezTo>
                  <a:lnTo>
                    <a:pt x="0" y="11752"/>
                  </a:lnTo>
                  <a:cubicBezTo>
                    <a:pt x="0" y="5262"/>
                    <a:pt x="5262" y="0"/>
                    <a:pt x="11752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4337442" cy="1558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452023"/>
            <a:ext cx="15715552" cy="4880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616161"/>
                </a:solidFill>
                <a:latin typeface="Agrandir Bold"/>
                <a:ea typeface="Agrandir Bold"/>
                <a:cs typeface="Agrandir Bold"/>
                <a:sym typeface="Agrandir Bold"/>
              </a:rPr>
              <a:t>HR &amp; Finance Dashboards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Pending verifications and approvals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Employee claim history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Utilization and financial liability overview</a:t>
            </a:r>
          </a:p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616161"/>
                </a:solidFill>
                <a:latin typeface="Agrandir Bold"/>
                <a:ea typeface="Agrandir Bold"/>
                <a:cs typeface="Agrandir Bold"/>
                <a:sym typeface="Agrandir Bold"/>
              </a:rPr>
              <a:t>Reporting &amp; Audit Readiness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Monthly/annual utilization reports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Pending vs. settled claims</a:t>
            </a:r>
          </a:p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616161"/>
                </a:solidFill>
                <a:latin typeface="Agrandir Bold"/>
                <a:ea typeface="Agrandir Bold"/>
                <a:cs typeface="Agrandir Bold"/>
                <a:sym typeface="Agrandir Bold"/>
              </a:rPr>
              <a:t>Cloud-Native Architecture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Mobile-responsive, no app installation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Scales automatically during peak periods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Key Value: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Faster decision-making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Audit-ready, scalable, and cost-efficient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90575" y="1057275"/>
            <a:ext cx="10423145" cy="913094"/>
            <a:chOff x="0" y="0"/>
            <a:chExt cx="2745191" cy="2404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45191" cy="240486"/>
            </a:xfrm>
            <a:custGeom>
              <a:avLst/>
              <a:gdLst/>
              <a:ahLst/>
              <a:cxnLst/>
              <a:rect l="l" t="t" r="r" b="b"/>
              <a:pathLst>
                <a:path w="2745191" h="240486">
                  <a:moveTo>
                    <a:pt x="21540" y="0"/>
                  </a:moveTo>
                  <a:lnTo>
                    <a:pt x="2723650" y="0"/>
                  </a:lnTo>
                  <a:cubicBezTo>
                    <a:pt x="2729363" y="0"/>
                    <a:pt x="2734842" y="2269"/>
                    <a:pt x="2738882" y="6309"/>
                  </a:cubicBezTo>
                  <a:cubicBezTo>
                    <a:pt x="2742921" y="10349"/>
                    <a:pt x="2745191" y="15827"/>
                    <a:pt x="2745191" y="21540"/>
                  </a:cubicBezTo>
                  <a:lnTo>
                    <a:pt x="2745191" y="218946"/>
                  </a:lnTo>
                  <a:cubicBezTo>
                    <a:pt x="2745191" y="224658"/>
                    <a:pt x="2742921" y="230137"/>
                    <a:pt x="2738882" y="234177"/>
                  </a:cubicBezTo>
                  <a:cubicBezTo>
                    <a:pt x="2734842" y="238216"/>
                    <a:pt x="2729363" y="240486"/>
                    <a:pt x="2723650" y="240486"/>
                  </a:cubicBezTo>
                  <a:lnTo>
                    <a:pt x="21540" y="240486"/>
                  </a:lnTo>
                  <a:cubicBezTo>
                    <a:pt x="15827" y="240486"/>
                    <a:pt x="10349" y="238216"/>
                    <a:pt x="6309" y="234177"/>
                  </a:cubicBezTo>
                  <a:cubicBezTo>
                    <a:pt x="2269" y="230137"/>
                    <a:pt x="0" y="224658"/>
                    <a:pt x="0" y="218946"/>
                  </a:cubicBezTo>
                  <a:lnTo>
                    <a:pt x="0" y="21540"/>
                  </a:lnTo>
                  <a:cubicBezTo>
                    <a:pt x="0" y="15827"/>
                    <a:pt x="2269" y="10349"/>
                    <a:pt x="6309" y="6309"/>
                  </a:cubicBezTo>
                  <a:cubicBezTo>
                    <a:pt x="10349" y="2269"/>
                    <a:pt x="15827" y="0"/>
                    <a:pt x="21540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42875"/>
              <a:ext cx="2745191" cy="383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5. Dashboards, Reporting &amp; Cloud Native Architecture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4076107" y="1057275"/>
            <a:ext cx="3183193" cy="915428"/>
          </a:xfrm>
          <a:custGeom>
            <a:avLst/>
            <a:gdLst/>
            <a:ahLst/>
            <a:cxnLst/>
            <a:rect l="l" t="t" r="r" b="b"/>
            <a:pathLst>
              <a:path w="3183193" h="915428">
                <a:moveTo>
                  <a:pt x="0" y="0"/>
                </a:moveTo>
                <a:lnTo>
                  <a:pt x="3183193" y="0"/>
                </a:lnTo>
                <a:lnTo>
                  <a:pt x="3183193" y="915428"/>
                </a:lnTo>
                <a:lnTo>
                  <a:pt x="0" y="915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76359">
            <a:off x="-4208668" y="271615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6" y="0"/>
                </a:lnTo>
                <a:lnTo>
                  <a:pt x="10474736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90575" y="310741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04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90575" y="2470369"/>
            <a:ext cx="16468725" cy="5494435"/>
            <a:chOff x="0" y="0"/>
            <a:chExt cx="4337442" cy="14470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37442" cy="1447094"/>
            </a:xfrm>
            <a:custGeom>
              <a:avLst/>
              <a:gdLst/>
              <a:ahLst/>
              <a:cxnLst/>
              <a:rect l="l" t="t" r="r" b="b"/>
              <a:pathLst>
                <a:path w="4337442" h="1447094">
                  <a:moveTo>
                    <a:pt x="11752" y="0"/>
                  </a:moveTo>
                  <a:lnTo>
                    <a:pt x="4325689" y="0"/>
                  </a:lnTo>
                  <a:cubicBezTo>
                    <a:pt x="4332180" y="0"/>
                    <a:pt x="4337442" y="5262"/>
                    <a:pt x="4337442" y="11752"/>
                  </a:cubicBezTo>
                  <a:lnTo>
                    <a:pt x="4337442" y="1435341"/>
                  </a:lnTo>
                  <a:cubicBezTo>
                    <a:pt x="4337442" y="1441832"/>
                    <a:pt x="4332180" y="1447094"/>
                    <a:pt x="4325689" y="1447094"/>
                  </a:cubicBezTo>
                  <a:lnTo>
                    <a:pt x="11752" y="1447094"/>
                  </a:lnTo>
                  <a:cubicBezTo>
                    <a:pt x="8636" y="1447094"/>
                    <a:pt x="5646" y="1445856"/>
                    <a:pt x="3442" y="1443652"/>
                  </a:cubicBezTo>
                  <a:cubicBezTo>
                    <a:pt x="1238" y="1441448"/>
                    <a:pt x="0" y="1438458"/>
                    <a:pt x="0" y="1435341"/>
                  </a:cubicBezTo>
                  <a:lnTo>
                    <a:pt x="0" y="11752"/>
                  </a:lnTo>
                  <a:cubicBezTo>
                    <a:pt x="0" y="5262"/>
                    <a:pt x="5262" y="0"/>
                    <a:pt x="11752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4337442" cy="1542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566405"/>
            <a:ext cx="15715552" cy="265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Single, web-based system for managing employee wellness allowances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Replaces Excel sheets, emails, and paper-based processes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Acts as a single source of truth for Employees, HR, and Finance</a:t>
            </a:r>
          </a:p>
          <a:p>
            <a:pPr marL="453390" lvl="1" indent="-226695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Securely accessible across the APAC region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Key Value: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Eliminates data inconsistency and manual reconciliation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Improves operational efficiency and governance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90575" y="1028700"/>
            <a:ext cx="8962176" cy="913094"/>
            <a:chOff x="0" y="0"/>
            <a:chExt cx="2360409" cy="2404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60409" cy="240486"/>
            </a:xfrm>
            <a:custGeom>
              <a:avLst/>
              <a:gdLst/>
              <a:ahLst/>
              <a:cxnLst/>
              <a:rect l="l" t="t" r="r" b="b"/>
              <a:pathLst>
                <a:path w="2360409" h="240486">
                  <a:moveTo>
                    <a:pt x="25051" y="0"/>
                  </a:moveTo>
                  <a:lnTo>
                    <a:pt x="2335357" y="0"/>
                  </a:lnTo>
                  <a:cubicBezTo>
                    <a:pt x="2349193" y="0"/>
                    <a:pt x="2360409" y="11216"/>
                    <a:pt x="2360409" y="25051"/>
                  </a:cubicBezTo>
                  <a:lnTo>
                    <a:pt x="2360409" y="215434"/>
                  </a:lnTo>
                  <a:cubicBezTo>
                    <a:pt x="2360409" y="222078"/>
                    <a:pt x="2357769" y="228450"/>
                    <a:pt x="2353071" y="233148"/>
                  </a:cubicBezTo>
                  <a:cubicBezTo>
                    <a:pt x="2348373" y="237846"/>
                    <a:pt x="2342001" y="240486"/>
                    <a:pt x="2335357" y="240486"/>
                  </a:cubicBezTo>
                  <a:lnTo>
                    <a:pt x="25051" y="240486"/>
                  </a:lnTo>
                  <a:cubicBezTo>
                    <a:pt x="18407" y="240486"/>
                    <a:pt x="12035" y="237846"/>
                    <a:pt x="7337" y="233148"/>
                  </a:cubicBezTo>
                  <a:cubicBezTo>
                    <a:pt x="2639" y="228450"/>
                    <a:pt x="0" y="222078"/>
                    <a:pt x="0" y="215434"/>
                  </a:cubicBezTo>
                  <a:lnTo>
                    <a:pt x="0" y="25051"/>
                  </a:lnTo>
                  <a:cubicBezTo>
                    <a:pt x="0" y="18407"/>
                    <a:pt x="2639" y="12035"/>
                    <a:pt x="7337" y="7337"/>
                  </a:cubicBezTo>
                  <a:cubicBezTo>
                    <a:pt x="12035" y="2639"/>
                    <a:pt x="18407" y="0"/>
                    <a:pt x="25051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42875"/>
              <a:ext cx="2360409" cy="383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1. Centralized Wellness Management Platform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76359">
            <a:off x="-4208668" y="271615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6" y="0"/>
                </a:lnTo>
                <a:lnTo>
                  <a:pt x="10474736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90575" y="906682"/>
            <a:ext cx="5953043" cy="67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KEY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0575" y="310741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5003403"/>
            <a:ext cx="6838500" cy="3900941"/>
            <a:chOff x="0" y="0"/>
            <a:chExt cx="1801086" cy="10274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01086" cy="1027408"/>
            </a:xfrm>
            <a:custGeom>
              <a:avLst/>
              <a:gdLst/>
              <a:ahLst/>
              <a:cxnLst/>
              <a:rect l="l" t="t" r="r" b="b"/>
              <a:pathLst>
                <a:path w="1801086" h="1027408">
                  <a:moveTo>
                    <a:pt x="28303" y="0"/>
                  </a:moveTo>
                  <a:lnTo>
                    <a:pt x="1772784" y="0"/>
                  </a:lnTo>
                  <a:cubicBezTo>
                    <a:pt x="1780290" y="0"/>
                    <a:pt x="1787489" y="2982"/>
                    <a:pt x="1792797" y="8290"/>
                  </a:cubicBezTo>
                  <a:cubicBezTo>
                    <a:pt x="1798105" y="13597"/>
                    <a:pt x="1801086" y="20796"/>
                    <a:pt x="1801086" y="28303"/>
                  </a:cubicBezTo>
                  <a:lnTo>
                    <a:pt x="1801086" y="999105"/>
                  </a:lnTo>
                  <a:cubicBezTo>
                    <a:pt x="1801086" y="1006612"/>
                    <a:pt x="1798105" y="1013811"/>
                    <a:pt x="1792797" y="1019119"/>
                  </a:cubicBezTo>
                  <a:cubicBezTo>
                    <a:pt x="1787489" y="1024426"/>
                    <a:pt x="1780290" y="1027408"/>
                    <a:pt x="1772784" y="1027408"/>
                  </a:cubicBezTo>
                  <a:lnTo>
                    <a:pt x="28303" y="1027408"/>
                  </a:lnTo>
                  <a:cubicBezTo>
                    <a:pt x="20796" y="1027408"/>
                    <a:pt x="13597" y="1024426"/>
                    <a:pt x="8290" y="1019119"/>
                  </a:cubicBezTo>
                  <a:cubicBezTo>
                    <a:pt x="2982" y="1013811"/>
                    <a:pt x="0" y="1006612"/>
                    <a:pt x="0" y="999105"/>
                  </a:cubicBezTo>
                  <a:lnTo>
                    <a:pt x="0" y="28303"/>
                  </a:lnTo>
                  <a:cubicBezTo>
                    <a:pt x="0" y="20796"/>
                    <a:pt x="2982" y="13597"/>
                    <a:pt x="8290" y="8290"/>
                  </a:cubicBezTo>
                  <a:cubicBezTo>
                    <a:pt x="13597" y="2982"/>
                    <a:pt x="20796" y="0"/>
                    <a:pt x="28303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1801086" cy="112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49708" y="5241528"/>
            <a:ext cx="5796485" cy="366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Single, web-based system to manage all employee wellness allowances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Replaces manual Excel sheets, emails, and paper-based tracking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Acts as a single source of truth for Employees, HR, and Finance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Accessible securely across the APAC region</a:t>
            </a:r>
          </a:p>
          <a:p>
            <a:pPr algn="l">
              <a:lnSpc>
                <a:spcPts val="2862"/>
              </a:lnSpc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Value: Eliminates data inconsistency and manual reconciliation</a:t>
            </a:r>
          </a:p>
          <a:p>
            <a:pPr algn="l">
              <a:lnSpc>
                <a:spcPts val="2862"/>
              </a:lnSpc>
            </a:pPr>
            <a:endParaRPr lang="en-US" sz="2044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028700" y="3456734"/>
            <a:ext cx="6838500" cy="1199007"/>
            <a:chOff x="0" y="0"/>
            <a:chExt cx="1801086" cy="3157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1086" cy="315788"/>
            </a:xfrm>
            <a:custGeom>
              <a:avLst/>
              <a:gdLst/>
              <a:ahLst/>
              <a:cxnLst/>
              <a:rect l="l" t="t" r="r" b="b"/>
              <a:pathLst>
                <a:path w="1801086" h="315788">
                  <a:moveTo>
                    <a:pt x="32831" y="0"/>
                  </a:moveTo>
                  <a:lnTo>
                    <a:pt x="1768255" y="0"/>
                  </a:lnTo>
                  <a:cubicBezTo>
                    <a:pt x="1776963" y="0"/>
                    <a:pt x="1785313" y="3459"/>
                    <a:pt x="1791470" y="9616"/>
                  </a:cubicBezTo>
                  <a:cubicBezTo>
                    <a:pt x="1797627" y="15773"/>
                    <a:pt x="1801086" y="24124"/>
                    <a:pt x="1801086" y="32831"/>
                  </a:cubicBezTo>
                  <a:lnTo>
                    <a:pt x="1801086" y="282957"/>
                  </a:lnTo>
                  <a:cubicBezTo>
                    <a:pt x="1801086" y="301089"/>
                    <a:pt x="1786387" y="315788"/>
                    <a:pt x="1768255" y="315788"/>
                  </a:cubicBezTo>
                  <a:lnTo>
                    <a:pt x="32831" y="315788"/>
                  </a:lnTo>
                  <a:cubicBezTo>
                    <a:pt x="24124" y="315788"/>
                    <a:pt x="15773" y="312329"/>
                    <a:pt x="9616" y="306172"/>
                  </a:cubicBezTo>
                  <a:cubicBezTo>
                    <a:pt x="3459" y="300015"/>
                    <a:pt x="0" y="291664"/>
                    <a:pt x="0" y="282957"/>
                  </a:cubicBezTo>
                  <a:lnTo>
                    <a:pt x="0" y="32831"/>
                  </a:lnTo>
                  <a:cubicBezTo>
                    <a:pt x="0" y="24124"/>
                    <a:pt x="3459" y="15773"/>
                    <a:pt x="9616" y="9616"/>
                  </a:cubicBezTo>
                  <a:cubicBezTo>
                    <a:pt x="15773" y="3459"/>
                    <a:pt x="24124" y="0"/>
                    <a:pt x="32831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42875"/>
              <a:ext cx="1801086" cy="458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1. Centralized Wellness Management Platform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96707" y="2700508"/>
            <a:ext cx="6838500" cy="3900941"/>
            <a:chOff x="0" y="0"/>
            <a:chExt cx="1801086" cy="10274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01086" cy="1027408"/>
            </a:xfrm>
            <a:custGeom>
              <a:avLst/>
              <a:gdLst/>
              <a:ahLst/>
              <a:cxnLst/>
              <a:rect l="l" t="t" r="r" b="b"/>
              <a:pathLst>
                <a:path w="1801086" h="1027408">
                  <a:moveTo>
                    <a:pt x="28303" y="0"/>
                  </a:moveTo>
                  <a:lnTo>
                    <a:pt x="1772784" y="0"/>
                  </a:lnTo>
                  <a:cubicBezTo>
                    <a:pt x="1780290" y="0"/>
                    <a:pt x="1787489" y="2982"/>
                    <a:pt x="1792797" y="8290"/>
                  </a:cubicBezTo>
                  <a:cubicBezTo>
                    <a:pt x="1798105" y="13597"/>
                    <a:pt x="1801086" y="20796"/>
                    <a:pt x="1801086" y="28303"/>
                  </a:cubicBezTo>
                  <a:lnTo>
                    <a:pt x="1801086" y="999105"/>
                  </a:lnTo>
                  <a:cubicBezTo>
                    <a:pt x="1801086" y="1006612"/>
                    <a:pt x="1798105" y="1013811"/>
                    <a:pt x="1792797" y="1019119"/>
                  </a:cubicBezTo>
                  <a:cubicBezTo>
                    <a:pt x="1787489" y="1024426"/>
                    <a:pt x="1780290" y="1027408"/>
                    <a:pt x="1772784" y="1027408"/>
                  </a:cubicBezTo>
                  <a:lnTo>
                    <a:pt x="28303" y="1027408"/>
                  </a:lnTo>
                  <a:cubicBezTo>
                    <a:pt x="20796" y="1027408"/>
                    <a:pt x="13597" y="1024426"/>
                    <a:pt x="8290" y="1019119"/>
                  </a:cubicBezTo>
                  <a:cubicBezTo>
                    <a:pt x="2982" y="1013811"/>
                    <a:pt x="0" y="1006612"/>
                    <a:pt x="0" y="999105"/>
                  </a:cubicBezTo>
                  <a:lnTo>
                    <a:pt x="0" y="28303"/>
                  </a:lnTo>
                  <a:cubicBezTo>
                    <a:pt x="0" y="20796"/>
                    <a:pt x="2982" y="13597"/>
                    <a:pt x="8290" y="8290"/>
                  </a:cubicBezTo>
                  <a:cubicBezTo>
                    <a:pt x="13597" y="2982"/>
                    <a:pt x="20796" y="0"/>
                    <a:pt x="28303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1801086" cy="112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117714" y="2938633"/>
            <a:ext cx="5796485" cy="402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Submit wellness claims anytime, from any device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Guided, step-by-step claim submission with validations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Supports both Preventive and Curative care categories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Secure upload of receipts and medical documents</a:t>
            </a:r>
          </a:p>
          <a:p>
            <a:pPr algn="l">
              <a:lnSpc>
                <a:spcPts val="2862"/>
              </a:lnSpc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Value: Reduces dependency on HR for basic claim tracking</a:t>
            </a:r>
          </a:p>
          <a:p>
            <a:pPr algn="l">
              <a:lnSpc>
                <a:spcPts val="2862"/>
              </a:lnSpc>
            </a:pPr>
            <a:endParaRPr lang="en-US" sz="2044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9534525" y="1204912"/>
            <a:ext cx="6900681" cy="1199007"/>
            <a:chOff x="0" y="0"/>
            <a:chExt cx="1817463" cy="31578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17463" cy="315788"/>
            </a:xfrm>
            <a:custGeom>
              <a:avLst/>
              <a:gdLst/>
              <a:ahLst/>
              <a:cxnLst/>
              <a:rect l="l" t="t" r="r" b="b"/>
              <a:pathLst>
                <a:path w="1817463" h="315788">
                  <a:moveTo>
                    <a:pt x="32535" y="0"/>
                  </a:moveTo>
                  <a:lnTo>
                    <a:pt x="1784928" y="0"/>
                  </a:lnTo>
                  <a:cubicBezTo>
                    <a:pt x="1802897" y="0"/>
                    <a:pt x="1817463" y="14567"/>
                    <a:pt x="1817463" y="32535"/>
                  </a:cubicBezTo>
                  <a:lnTo>
                    <a:pt x="1817463" y="283253"/>
                  </a:lnTo>
                  <a:cubicBezTo>
                    <a:pt x="1817463" y="301221"/>
                    <a:pt x="1802897" y="315788"/>
                    <a:pt x="1784928" y="315788"/>
                  </a:cubicBezTo>
                  <a:lnTo>
                    <a:pt x="32535" y="315788"/>
                  </a:lnTo>
                  <a:cubicBezTo>
                    <a:pt x="14567" y="315788"/>
                    <a:pt x="0" y="301221"/>
                    <a:pt x="0" y="283253"/>
                  </a:cubicBezTo>
                  <a:lnTo>
                    <a:pt x="0" y="32535"/>
                  </a:lnTo>
                  <a:cubicBezTo>
                    <a:pt x="0" y="14567"/>
                    <a:pt x="14567" y="0"/>
                    <a:pt x="32535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42875"/>
              <a:ext cx="1817463" cy="458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2. Employee Self-Service Claim Submission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76359">
            <a:off x="-4208668" y="271615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6" y="0"/>
                </a:lnTo>
                <a:lnTo>
                  <a:pt x="10474736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90575" y="906682"/>
            <a:ext cx="5953043" cy="67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KEY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0575" y="310741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5003403"/>
            <a:ext cx="6838500" cy="3900941"/>
            <a:chOff x="0" y="0"/>
            <a:chExt cx="1801086" cy="10274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01086" cy="1027408"/>
            </a:xfrm>
            <a:custGeom>
              <a:avLst/>
              <a:gdLst/>
              <a:ahLst/>
              <a:cxnLst/>
              <a:rect l="l" t="t" r="r" b="b"/>
              <a:pathLst>
                <a:path w="1801086" h="1027408">
                  <a:moveTo>
                    <a:pt x="28303" y="0"/>
                  </a:moveTo>
                  <a:lnTo>
                    <a:pt x="1772784" y="0"/>
                  </a:lnTo>
                  <a:cubicBezTo>
                    <a:pt x="1780290" y="0"/>
                    <a:pt x="1787489" y="2982"/>
                    <a:pt x="1792797" y="8290"/>
                  </a:cubicBezTo>
                  <a:cubicBezTo>
                    <a:pt x="1798105" y="13597"/>
                    <a:pt x="1801086" y="20796"/>
                    <a:pt x="1801086" y="28303"/>
                  </a:cubicBezTo>
                  <a:lnTo>
                    <a:pt x="1801086" y="999105"/>
                  </a:lnTo>
                  <a:cubicBezTo>
                    <a:pt x="1801086" y="1006612"/>
                    <a:pt x="1798105" y="1013811"/>
                    <a:pt x="1792797" y="1019119"/>
                  </a:cubicBezTo>
                  <a:cubicBezTo>
                    <a:pt x="1787489" y="1024426"/>
                    <a:pt x="1780290" y="1027408"/>
                    <a:pt x="1772784" y="1027408"/>
                  </a:cubicBezTo>
                  <a:lnTo>
                    <a:pt x="28303" y="1027408"/>
                  </a:lnTo>
                  <a:cubicBezTo>
                    <a:pt x="20796" y="1027408"/>
                    <a:pt x="13597" y="1024426"/>
                    <a:pt x="8290" y="1019119"/>
                  </a:cubicBezTo>
                  <a:cubicBezTo>
                    <a:pt x="2982" y="1013811"/>
                    <a:pt x="0" y="1006612"/>
                    <a:pt x="0" y="999105"/>
                  </a:cubicBezTo>
                  <a:lnTo>
                    <a:pt x="0" y="28303"/>
                  </a:lnTo>
                  <a:cubicBezTo>
                    <a:pt x="0" y="20796"/>
                    <a:pt x="2982" y="13597"/>
                    <a:pt x="8290" y="8290"/>
                  </a:cubicBezTo>
                  <a:cubicBezTo>
                    <a:pt x="13597" y="2982"/>
                    <a:pt x="20796" y="0"/>
                    <a:pt x="28303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1801086" cy="112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49708" y="5241528"/>
            <a:ext cx="5796485" cy="3300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Employees can view: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Total entitlement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Pending claims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Utilized amount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Available balance (real-time)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Claim status (will be discussed in next slides)</a:t>
            </a:r>
          </a:p>
          <a:p>
            <a:pPr algn="l">
              <a:lnSpc>
                <a:spcPts val="2862"/>
              </a:lnSpc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Value: Improves transparency and employee satisfaction</a:t>
            </a:r>
          </a:p>
          <a:p>
            <a:pPr algn="l">
              <a:lnSpc>
                <a:spcPts val="2862"/>
              </a:lnSpc>
            </a:pPr>
            <a:endParaRPr lang="en-US" sz="2044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028700" y="3456734"/>
            <a:ext cx="6838500" cy="913094"/>
            <a:chOff x="0" y="0"/>
            <a:chExt cx="1801086" cy="2404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1086" cy="240486"/>
            </a:xfrm>
            <a:custGeom>
              <a:avLst/>
              <a:gdLst/>
              <a:ahLst/>
              <a:cxnLst/>
              <a:rect l="l" t="t" r="r" b="b"/>
              <a:pathLst>
                <a:path w="1801086" h="240486">
                  <a:moveTo>
                    <a:pt x="32831" y="0"/>
                  </a:moveTo>
                  <a:lnTo>
                    <a:pt x="1768255" y="0"/>
                  </a:lnTo>
                  <a:cubicBezTo>
                    <a:pt x="1776963" y="0"/>
                    <a:pt x="1785313" y="3459"/>
                    <a:pt x="1791470" y="9616"/>
                  </a:cubicBezTo>
                  <a:cubicBezTo>
                    <a:pt x="1797627" y="15773"/>
                    <a:pt x="1801086" y="24124"/>
                    <a:pt x="1801086" y="32831"/>
                  </a:cubicBezTo>
                  <a:lnTo>
                    <a:pt x="1801086" y="207654"/>
                  </a:lnTo>
                  <a:cubicBezTo>
                    <a:pt x="1801086" y="225787"/>
                    <a:pt x="1786387" y="240486"/>
                    <a:pt x="1768255" y="240486"/>
                  </a:cubicBezTo>
                  <a:lnTo>
                    <a:pt x="32831" y="240486"/>
                  </a:lnTo>
                  <a:cubicBezTo>
                    <a:pt x="24124" y="240486"/>
                    <a:pt x="15773" y="237027"/>
                    <a:pt x="9616" y="230870"/>
                  </a:cubicBezTo>
                  <a:cubicBezTo>
                    <a:pt x="3459" y="224713"/>
                    <a:pt x="0" y="216362"/>
                    <a:pt x="0" y="207654"/>
                  </a:cubicBezTo>
                  <a:lnTo>
                    <a:pt x="0" y="32831"/>
                  </a:lnTo>
                  <a:cubicBezTo>
                    <a:pt x="0" y="24124"/>
                    <a:pt x="3459" y="15773"/>
                    <a:pt x="9616" y="9616"/>
                  </a:cubicBezTo>
                  <a:cubicBezTo>
                    <a:pt x="15773" y="3459"/>
                    <a:pt x="24124" y="0"/>
                    <a:pt x="32831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42875"/>
              <a:ext cx="1801086" cy="383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3. Claim Status &amp; Balance Visibility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96707" y="2700508"/>
            <a:ext cx="6838500" cy="3900941"/>
            <a:chOff x="0" y="0"/>
            <a:chExt cx="1801086" cy="10274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01086" cy="1027408"/>
            </a:xfrm>
            <a:custGeom>
              <a:avLst/>
              <a:gdLst/>
              <a:ahLst/>
              <a:cxnLst/>
              <a:rect l="l" t="t" r="r" b="b"/>
              <a:pathLst>
                <a:path w="1801086" h="1027408">
                  <a:moveTo>
                    <a:pt x="28303" y="0"/>
                  </a:moveTo>
                  <a:lnTo>
                    <a:pt x="1772784" y="0"/>
                  </a:lnTo>
                  <a:cubicBezTo>
                    <a:pt x="1780290" y="0"/>
                    <a:pt x="1787489" y="2982"/>
                    <a:pt x="1792797" y="8290"/>
                  </a:cubicBezTo>
                  <a:cubicBezTo>
                    <a:pt x="1798105" y="13597"/>
                    <a:pt x="1801086" y="20796"/>
                    <a:pt x="1801086" y="28303"/>
                  </a:cubicBezTo>
                  <a:lnTo>
                    <a:pt x="1801086" y="999105"/>
                  </a:lnTo>
                  <a:cubicBezTo>
                    <a:pt x="1801086" y="1006612"/>
                    <a:pt x="1798105" y="1013811"/>
                    <a:pt x="1792797" y="1019119"/>
                  </a:cubicBezTo>
                  <a:cubicBezTo>
                    <a:pt x="1787489" y="1024426"/>
                    <a:pt x="1780290" y="1027408"/>
                    <a:pt x="1772784" y="1027408"/>
                  </a:cubicBezTo>
                  <a:lnTo>
                    <a:pt x="28303" y="1027408"/>
                  </a:lnTo>
                  <a:cubicBezTo>
                    <a:pt x="20796" y="1027408"/>
                    <a:pt x="13597" y="1024426"/>
                    <a:pt x="8290" y="1019119"/>
                  </a:cubicBezTo>
                  <a:cubicBezTo>
                    <a:pt x="2982" y="1013811"/>
                    <a:pt x="0" y="1006612"/>
                    <a:pt x="0" y="999105"/>
                  </a:cubicBezTo>
                  <a:lnTo>
                    <a:pt x="0" y="28303"/>
                  </a:lnTo>
                  <a:cubicBezTo>
                    <a:pt x="0" y="20796"/>
                    <a:pt x="2982" y="13597"/>
                    <a:pt x="8290" y="8290"/>
                  </a:cubicBezTo>
                  <a:cubicBezTo>
                    <a:pt x="13597" y="2982"/>
                    <a:pt x="20796" y="0"/>
                    <a:pt x="28303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1801086" cy="112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117714" y="2938633"/>
            <a:ext cx="5796485" cy="402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Automatic enforcement of wellness policy rules: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LKR 150,000 annual entitlement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Maximum 65% Curative Care limit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Minimum 35% Preventive Care requirement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Prevents over claiming and invalid submissions</a:t>
            </a:r>
          </a:p>
          <a:p>
            <a:pPr algn="l">
              <a:lnSpc>
                <a:spcPts val="2862"/>
              </a:lnSpc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Value: Reduces policy violations and manual corrections</a:t>
            </a:r>
          </a:p>
          <a:p>
            <a:pPr algn="l">
              <a:lnSpc>
                <a:spcPts val="2862"/>
              </a:lnSpc>
            </a:pPr>
            <a:endParaRPr lang="en-US" sz="2044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9534525" y="1204912"/>
            <a:ext cx="6900681" cy="1199007"/>
            <a:chOff x="0" y="0"/>
            <a:chExt cx="1817463" cy="31578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17463" cy="315788"/>
            </a:xfrm>
            <a:custGeom>
              <a:avLst/>
              <a:gdLst/>
              <a:ahLst/>
              <a:cxnLst/>
              <a:rect l="l" t="t" r="r" b="b"/>
              <a:pathLst>
                <a:path w="1817463" h="315788">
                  <a:moveTo>
                    <a:pt x="32535" y="0"/>
                  </a:moveTo>
                  <a:lnTo>
                    <a:pt x="1784928" y="0"/>
                  </a:lnTo>
                  <a:cubicBezTo>
                    <a:pt x="1802897" y="0"/>
                    <a:pt x="1817463" y="14567"/>
                    <a:pt x="1817463" y="32535"/>
                  </a:cubicBezTo>
                  <a:lnTo>
                    <a:pt x="1817463" y="283253"/>
                  </a:lnTo>
                  <a:cubicBezTo>
                    <a:pt x="1817463" y="301221"/>
                    <a:pt x="1802897" y="315788"/>
                    <a:pt x="1784928" y="315788"/>
                  </a:cubicBezTo>
                  <a:lnTo>
                    <a:pt x="32535" y="315788"/>
                  </a:lnTo>
                  <a:cubicBezTo>
                    <a:pt x="14567" y="315788"/>
                    <a:pt x="0" y="301221"/>
                    <a:pt x="0" y="283253"/>
                  </a:cubicBezTo>
                  <a:lnTo>
                    <a:pt x="0" y="32535"/>
                  </a:lnTo>
                  <a:cubicBezTo>
                    <a:pt x="0" y="14567"/>
                    <a:pt x="14567" y="0"/>
                    <a:pt x="32535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42875"/>
              <a:ext cx="1817463" cy="458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4. Automated Eligibility &amp; Policy Validation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76359">
            <a:off x="-4208668" y="271615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6" y="0"/>
                </a:lnTo>
                <a:lnTo>
                  <a:pt x="10474736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90575" y="906682"/>
            <a:ext cx="5953043" cy="67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KEY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0575" y="310741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5003403"/>
            <a:ext cx="6838500" cy="3900941"/>
            <a:chOff x="0" y="0"/>
            <a:chExt cx="1801086" cy="10274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01086" cy="1027408"/>
            </a:xfrm>
            <a:custGeom>
              <a:avLst/>
              <a:gdLst/>
              <a:ahLst/>
              <a:cxnLst/>
              <a:rect l="l" t="t" r="r" b="b"/>
              <a:pathLst>
                <a:path w="1801086" h="1027408">
                  <a:moveTo>
                    <a:pt x="28303" y="0"/>
                  </a:moveTo>
                  <a:lnTo>
                    <a:pt x="1772784" y="0"/>
                  </a:lnTo>
                  <a:cubicBezTo>
                    <a:pt x="1780290" y="0"/>
                    <a:pt x="1787489" y="2982"/>
                    <a:pt x="1792797" y="8290"/>
                  </a:cubicBezTo>
                  <a:cubicBezTo>
                    <a:pt x="1798105" y="13597"/>
                    <a:pt x="1801086" y="20796"/>
                    <a:pt x="1801086" y="28303"/>
                  </a:cubicBezTo>
                  <a:lnTo>
                    <a:pt x="1801086" y="999105"/>
                  </a:lnTo>
                  <a:cubicBezTo>
                    <a:pt x="1801086" y="1006612"/>
                    <a:pt x="1798105" y="1013811"/>
                    <a:pt x="1792797" y="1019119"/>
                  </a:cubicBezTo>
                  <a:cubicBezTo>
                    <a:pt x="1787489" y="1024426"/>
                    <a:pt x="1780290" y="1027408"/>
                    <a:pt x="1772784" y="1027408"/>
                  </a:cubicBezTo>
                  <a:lnTo>
                    <a:pt x="28303" y="1027408"/>
                  </a:lnTo>
                  <a:cubicBezTo>
                    <a:pt x="20796" y="1027408"/>
                    <a:pt x="13597" y="1024426"/>
                    <a:pt x="8290" y="1019119"/>
                  </a:cubicBezTo>
                  <a:cubicBezTo>
                    <a:pt x="2982" y="1013811"/>
                    <a:pt x="0" y="1006612"/>
                    <a:pt x="0" y="999105"/>
                  </a:cubicBezTo>
                  <a:lnTo>
                    <a:pt x="0" y="28303"/>
                  </a:lnTo>
                  <a:cubicBezTo>
                    <a:pt x="0" y="20796"/>
                    <a:pt x="2982" y="13597"/>
                    <a:pt x="8290" y="8290"/>
                  </a:cubicBezTo>
                  <a:cubicBezTo>
                    <a:pt x="13597" y="2982"/>
                    <a:pt x="20796" y="0"/>
                    <a:pt x="28303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1801086" cy="112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49708" y="5241528"/>
            <a:ext cx="5796485" cy="257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Automatic allowance calculation for mid-year joiners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Monthly accrual logic applied accurately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Annual balance reset on January 1st</a:t>
            </a:r>
          </a:p>
          <a:p>
            <a:pPr algn="l">
              <a:lnSpc>
                <a:spcPts val="2862"/>
              </a:lnSpc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Value: Ensures fairness and financial accuracy without manual effort</a:t>
            </a:r>
          </a:p>
          <a:p>
            <a:pPr algn="l">
              <a:lnSpc>
                <a:spcPts val="2862"/>
              </a:lnSpc>
            </a:pPr>
            <a:endParaRPr lang="en-US" sz="2044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028700" y="3456734"/>
            <a:ext cx="6838500" cy="1199007"/>
            <a:chOff x="0" y="0"/>
            <a:chExt cx="1801086" cy="3157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1086" cy="315788"/>
            </a:xfrm>
            <a:custGeom>
              <a:avLst/>
              <a:gdLst/>
              <a:ahLst/>
              <a:cxnLst/>
              <a:rect l="l" t="t" r="r" b="b"/>
              <a:pathLst>
                <a:path w="1801086" h="315788">
                  <a:moveTo>
                    <a:pt x="32831" y="0"/>
                  </a:moveTo>
                  <a:lnTo>
                    <a:pt x="1768255" y="0"/>
                  </a:lnTo>
                  <a:cubicBezTo>
                    <a:pt x="1776963" y="0"/>
                    <a:pt x="1785313" y="3459"/>
                    <a:pt x="1791470" y="9616"/>
                  </a:cubicBezTo>
                  <a:cubicBezTo>
                    <a:pt x="1797627" y="15773"/>
                    <a:pt x="1801086" y="24124"/>
                    <a:pt x="1801086" y="32831"/>
                  </a:cubicBezTo>
                  <a:lnTo>
                    <a:pt x="1801086" y="282957"/>
                  </a:lnTo>
                  <a:cubicBezTo>
                    <a:pt x="1801086" y="301089"/>
                    <a:pt x="1786387" y="315788"/>
                    <a:pt x="1768255" y="315788"/>
                  </a:cubicBezTo>
                  <a:lnTo>
                    <a:pt x="32831" y="315788"/>
                  </a:lnTo>
                  <a:cubicBezTo>
                    <a:pt x="24124" y="315788"/>
                    <a:pt x="15773" y="312329"/>
                    <a:pt x="9616" y="306172"/>
                  </a:cubicBezTo>
                  <a:cubicBezTo>
                    <a:pt x="3459" y="300015"/>
                    <a:pt x="0" y="291664"/>
                    <a:pt x="0" y="282957"/>
                  </a:cubicBezTo>
                  <a:lnTo>
                    <a:pt x="0" y="32831"/>
                  </a:lnTo>
                  <a:cubicBezTo>
                    <a:pt x="0" y="24124"/>
                    <a:pt x="3459" y="15773"/>
                    <a:pt x="9616" y="9616"/>
                  </a:cubicBezTo>
                  <a:cubicBezTo>
                    <a:pt x="15773" y="3459"/>
                    <a:pt x="24124" y="0"/>
                    <a:pt x="32831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42875"/>
              <a:ext cx="1801086" cy="458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5. Pro-Rated Entitlement Management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96707" y="2700508"/>
            <a:ext cx="6838500" cy="3900941"/>
            <a:chOff x="0" y="0"/>
            <a:chExt cx="1801086" cy="10274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01086" cy="1027408"/>
            </a:xfrm>
            <a:custGeom>
              <a:avLst/>
              <a:gdLst/>
              <a:ahLst/>
              <a:cxnLst/>
              <a:rect l="l" t="t" r="r" b="b"/>
              <a:pathLst>
                <a:path w="1801086" h="1027408">
                  <a:moveTo>
                    <a:pt x="28303" y="0"/>
                  </a:moveTo>
                  <a:lnTo>
                    <a:pt x="1772784" y="0"/>
                  </a:lnTo>
                  <a:cubicBezTo>
                    <a:pt x="1780290" y="0"/>
                    <a:pt x="1787489" y="2982"/>
                    <a:pt x="1792797" y="8290"/>
                  </a:cubicBezTo>
                  <a:cubicBezTo>
                    <a:pt x="1798105" y="13597"/>
                    <a:pt x="1801086" y="20796"/>
                    <a:pt x="1801086" y="28303"/>
                  </a:cubicBezTo>
                  <a:lnTo>
                    <a:pt x="1801086" y="999105"/>
                  </a:lnTo>
                  <a:cubicBezTo>
                    <a:pt x="1801086" y="1006612"/>
                    <a:pt x="1798105" y="1013811"/>
                    <a:pt x="1792797" y="1019119"/>
                  </a:cubicBezTo>
                  <a:cubicBezTo>
                    <a:pt x="1787489" y="1024426"/>
                    <a:pt x="1780290" y="1027408"/>
                    <a:pt x="1772784" y="1027408"/>
                  </a:cubicBezTo>
                  <a:lnTo>
                    <a:pt x="28303" y="1027408"/>
                  </a:lnTo>
                  <a:cubicBezTo>
                    <a:pt x="20796" y="1027408"/>
                    <a:pt x="13597" y="1024426"/>
                    <a:pt x="8290" y="1019119"/>
                  </a:cubicBezTo>
                  <a:cubicBezTo>
                    <a:pt x="2982" y="1013811"/>
                    <a:pt x="0" y="1006612"/>
                    <a:pt x="0" y="999105"/>
                  </a:cubicBezTo>
                  <a:lnTo>
                    <a:pt x="0" y="28303"/>
                  </a:lnTo>
                  <a:cubicBezTo>
                    <a:pt x="0" y="20796"/>
                    <a:pt x="2982" y="13597"/>
                    <a:pt x="8290" y="8290"/>
                  </a:cubicBezTo>
                  <a:cubicBezTo>
                    <a:pt x="13597" y="2982"/>
                    <a:pt x="20796" y="0"/>
                    <a:pt x="28303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1801086" cy="112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117714" y="2938633"/>
            <a:ext cx="5796485" cy="257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Structured approval flow: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Employee → HR Head → Finance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Role-based access control ensures approval integrity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Rejection including comments</a:t>
            </a:r>
          </a:p>
          <a:p>
            <a:pPr algn="l">
              <a:lnSpc>
                <a:spcPts val="2862"/>
              </a:lnSpc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Value: Better management and responsibility</a:t>
            </a:r>
          </a:p>
          <a:p>
            <a:pPr algn="l">
              <a:lnSpc>
                <a:spcPts val="2862"/>
              </a:lnSpc>
            </a:pPr>
            <a:endParaRPr lang="en-US" sz="2044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9534525" y="1204912"/>
            <a:ext cx="6900681" cy="913094"/>
            <a:chOff x="0" y="0"/>
            <a:chExt cx="1817463" cy="2404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17463" cy="240486"/>
            </a:xfrm>
            <a:custGeom>
              <a:avLst/>
              <a:gdLst/>
              <a:ahLst/>
              <a:cxnLst/>
              <a:rect l="l" t="t" r="r" b="b"/>
              <a:pathLst>
                <a:path w="1817463" h="240486">
                  <a:moveTo>
                    <a:pt x="32535" y="0"/>
                  </a:moveTo>
                  <a:lnTo>
                    <a:pt x="1784928" y="0"/>
                  </a:lnTo>
                  <a:cubicBezTo>
                    <a:pt x="1802897" y="0"/>
                    <a:pt x="1817463" y="14567"/>
                    <a:pt x="1817463" y="32535"/>
                  </a:cubicBezTo>
                  <a:lnTo>
                    <a:pt x="1817463" y="207950"/>
                  </a:lnTo>
                  <a:cubicBezTo>
                    <a:pt x="1817463" y="225919"/>
                    <a:pt x="1802897" y="240486"/>
                    <a:pt x="1784928" y="240486"/>
                  </a:cubicBezTo>
                  <a:lnTo>
                    <a:pt x="32535" y="240486"/>
                  </a:lnTo>
                  <a:cubicBezTo>
                    <a:pt x="14567" y="240486"/>
                    <a:pt x="0" y="225919"/>
                    <a:pt x="0" y="207950"/>
                  </a:cubicBezTo>
                  <a:lnTo>
                    <a:pt x="0" y="32535"/>
                  </a:lnTo>
                  <a:cubicBezTo>
                    <a:pt x="0" y="14567"/>
                    <a:pt x="14567" y="0"/>
                    <a:pt x="32535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42875"/>
              <a:ext cx="1817463" cy="383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6. Multi-Stage Approval Workflow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76359">
            <a:off x="-4208668" y="271615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6" y="0"/>
                </a:lnTo>
                <a:lnTo>
                  <a:pt x="10474736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90575" y="906682"/>
            <a:ext cx="5953043" cy="67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KEY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0575" y="310741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5003403"/>
            <a:ext cx="6838500" cy="3900941"/>
            <a:chOff x="0" y="0"/>
            <a:chExt cx="1801086" cy="10274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01086" cy="1027408"/>
            </a:xfrm>
            <a:custGeom>
              <a:avLst/>
              <a:gdLst/>
              <a:ahLst/>
              <a:cxnLst/>
              <a:rect l="l" t="t" r="r" b="b"/>
              <a:pathLst>
                <a:path w="1801086" h="1027408">
                  <a:moveTo>
                    <a:pt x="28303" y="0"/>
                  </a:moveTo>
                  <a:lnTo>
                    <a:pt x="1772784" y="0"/>
                  </a:lnTo>
                  <a:cubicBezTo>
                    <a:pt x="1780290" y="0"/>
                    <a:pt x="1787489" y="2982"/>
                    <a:pt x="1792797" y="8290"/>
                  </a:cubicBezTo>
                  <a:cubicBezTo>
                    <a:pt x="1798105" y="13597"/>
                    <a:pt x="1801086" y="20796"/>
                    <a:pt x="1801086" y="28303"/>
                  </a:cubicBezTo>
                  <a:lnTo>
                    <a:pt x="1801086" y="999105"/>
                  </a:lnTo>
                  <a:cubicBezTo>
                    <a:pt x="1801086" y="1006612"/>
                    <a:pt x="1798105" y="1013811"/>
                    <a:pt x="1792797" y="1019119"/>
                  </a:cubicBezTo>
                  <a:cubicBezTo>
                    <a:pt x="1787489" y="1024426"/>
                    <a:pt x="1780290" y="1027408"/>
                    <a:pt x="1772784" y="1027408"/>
                  </a:cubicBezTo>
                  <a:lnTo>
                    <a:pt x="28303" y="1027408"/>
                  </a:lnTo>
                  <a:cubicBezTo>
                    <a:pt x="20796" y="1027408"/>
                    <a:pt x="13597" y="1024426"/>
                    <a:pt x="8290" y="1019119"/>
                  </a:cubicBezTo>
                  <a:cubicBezTo>
                    <a:pt x="2982" y="1013811"/>
                    <a:pt x="0" y="1006612"/>
                    <a:pt x="0" y="999105"/>
                  </a:cubicBezTo>
                  <a:lnTo>
                    <a:pt x="0" y="28303"/>
                  </a:lnTo>
                  <a:cubicBezTo>
                    <a:pt x="0" y="20796"/>
                    <a:pt x="2982" y="13597"/>
                    <a:pt x="8290" y="8290"/>
                  </a:cubicBezTo>
                  <a:cubicBezTo>
                    <a:pt x="13597" y="2982"/>
                    <a:pt x="20796" y="0"/>
                    <a:pt x="28303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1801086" cy="112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49708" y="5241528"/>
            <a:ext cx="5796485" cy="293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Email alerts for: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Claim submission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HR/Finance approval or rejection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Finance settlement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Balance thresholds and deadlines</a:t>
            </a:r>
          </a:p>
          <a:p>
            <a:pPr algn="l">
              <a:lnSpc>
                <a:spcPts val="2862"/>
              </a:lnSpc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Value: Reduces delays and eliminates manual follow-ups</a:t>
            </a:r>
          </a:p>
          <a:p>
            <a:pPr algn="l">
              <a:lnSpc>
                <a:spcPts val="2862"/>
              </a:lnSpc>
            </a:pPr>
            <a:endParaRPr lang="en-US" sz="2044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028700" y="3456734"/>
            <a:ext cx="6838500" cy="913094"/>
            <a:chOff x="0" y="0"/>
            <a:chExt cx="1801086" cy="2404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1086" cy="240486"/>
            </a:xfrm>
            <a:custGeom>
              <a:avLst/>
              <a:gdLst/>
              <a:ahLst/>
              <a:cxnLst/>
              <a:rect l="l" t="t" r="r" b="b"/>
              <a:pathLst>
                <a:path w="1801086" h="240486">
                  <a:moveTo>
                    <a:pt x="32831" y="0"/>
                  </a:moveTo>
                  <a:lnTo>
                    <a:pt x="1768255" y="0"/>
                  </a:lnTo>
                  <a:cubicBezTo>
                    <a:pt x="1776963" y="0"/>
                    <a:pt x="1785313" y="3459"/>
                    <a:pt x="1791470" y="9616"/>
                  </a:cubicBezTo>
                  <a:cubicBezTo>
                    <a:pt x="1797627" y="15773"/>
                    <a:pt x="1801086" y="24124"/>
                    <a:pt x="1801086" y="32831"/>
                  </a:cubicBezTo>
                  <a:lnTo>
                    <a:pt x="1801086" y="207654"/>
                  </a:lnTo>
                  <a:cubicBezTo>
                    <a:pt x="1801086" y="225787"/>
                    <a:pt x="1786387" y="240486"/>
                    <a:pt x="1768255" y="240486"/>
                  </a:cubicBezTo>
                  <a:lnTo>
                    <a:pt x="32831" y="240486"/>
                  </a:lnTo>
                  <a:cubicBezTo>
                    <a:pt x="24124" y="240486"/>
                    <a:pt x="15773" y="237027"/>
                    <a:pt x="9616" y="230870"/>
                  </a:cubicBezTo>
                  <a:cubicBezTo>
                    <a:pt x="3459" y="224713"/>
                    <a:pt x="0" y="216362"/>
                    <a:pt x="0" y="207654"/>
                  </a:cubicBezTo>
                  <a:lnTo>
                    <a:pt x="0" y="32831"/>
                  </a:lnTo>
                  <a:cubicBezTo>
                    <a:pt x="0" y="24124"/>
                    <a:pt x="3459" y="15773"/>
                    <a:pt x="9616" y="9616"/>
                  </a:cubicBezTo>
                  <a:cubicBezTo>
                    <a:pt x="15773" y="3459"/>
                    <a:pt x="24124" y="0"/>
                    <a:pt x="32831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42875"/>
              <a:ext cx="1801086" cy="383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7. Automated Notifications &amp; Alerts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96707" y="2700508"/>
            <a:ext cx="6838500" cy="3900941"/>
            <a:chOff x="0" y="0"/>
            <a:chExt cx="1801086" cy="10274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01086" cy="1027408"/>
            </a:xfrm>
            <a:custGeom>
              <a:avLst/>
              <a:gdLst/>
              <a:ahLst/>
              <a:cxnLst/>
              <a:rect l="l" t="t" r="r" b="b"/>
              <a:pathLst>
                <a:path w="1801086" h="1027408">
                  <a:moveTo>
                    <a:pt x="28303" y="0"/>
                  </a:moveTo>
                  <a:lnTo>
                    <a:pt x="1772784" y="0"/>
                  </a:lnTo>
                  <a:cubicBezTo>
                    <a:pt x="1780290" y="0"/>
                    <a:pt x="1787489" y="2982"/>
                    <a:pt x="1792797" y="8290"/>
                  </a:cubicBezTo>
                  <a:cubicBezTo>
                    <a:pt x="1798105" y="13597"/>
                    <a:pt x="1801086" y="20796"/>
                    <a:pt x="1801086" y="28303"/>
                  </a:cubicBezTo>
                  <a:lnTo>
                    <a:pt x="1801086" y="999105"/>
                  </a:lnTo>
                  <a:cubicBezTo>
                    <a:pt x="1801086" y="1006612"/>
                    <a:pt x="1798105" y="1013811"/>
                    <a:pt x="1792797" y="1019119"/>
                  </a:cubicBezTo>
                  <a:cubicBezTo>
                    <a:pt x="1787489" y="1024426"/>
                    <a:pt x="1780290" y="1027408"/>
                    <a:pt x="1772784" y="1027408"/>
                  </a:cubicBezTo>
                  <a:lnTo>
                    <a:pt x="28303" y="1027408"/>
                  </a:lnTo>
                  <a:cubicBezTo>
                    <a:pt x="20796" y="1027408"/>
                    <a:pt x="13597" y="1024426"/>
                    <a:pt x="8290" y="1019119"/>
                  </a:cubicBezTo>
                  <a:cubicBezTo>
                    <a:pt x="2982" y="1013811"/>
                    <a:pt x="0" y="1006612"/>
                    <a:pt x="0" y="999105"/>
                  </a:cubicBezTo>
                  <a:lnTo>
                    <a:pt x="0" y="28303"/>
                  </a:lnTo>
                  <a:cubicBezTo>
                    <a:pt x="0" y="20796"/>
                    <a:pt x="2982" y="13597"/>
                    <a:pt x="8290" y="8290"/>
                  </a:cubicBezTo>
                  <a:cubicBezTo>
                    <a:pt x="13597" y="2982"/>
                    <a:pt x="20796" y="0"/>
                    <a:pt x="28303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1801086" cy="112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117714" y="2938633"/>
            <a:ext cx="5796485" cy="293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Secure storage of all receipts and medical documents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Encrypted cloud storage with role-based access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Easy access for audits and compliance</a:t>
            </a:r>
          </a:p>
          <a:p>
            <a:pPr algn="l">
              <a:lnSpc>
                <a:spcPts val="2862"/>
              </a:lnSpc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Value: Protects sensitive medical and financial data</a:t>
            </a:r>
          </a:p>
          <a:p>
            <a:pPr algn="l">
              <a:lnSpc>
                <a:spcPts val="2862"/>
              </a:lnSpc>
            </a:pPr>
            <a:endParaRPr lang="en-US" sz="2044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9534525" y="1204912"/>
            <a:ext cx="6900681" cy="913094"/>
            <a:chOff x="0" y="0"/>
            <a:chExt cx="1817463" cy="2404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17463" cy="240486"/>
            </a:xfrm>
            <a:custGeom>
              <a:avLst/>
              <a:gdLst/>
              <a:ahLst/>
              <a:cxnLst/>
              <a:rect l="l" t="t" r="r" b="b"/>
              <a:pathLst>
                <a:path w="1817463" h="240486">
                  <a:moveTo>
                    <a:pt x="32535" y="0"/>
                  </a:moveTo>
                  <a:lnTo>
                    <a:pt x="1784928" y="0"/>
                  </a:lnTo>
                  <a:cubicBezTo>
                    <a:pt x="1802897" y="0"/>
                    <a:pt x="1817463" y="14567"/>
                    <a:pt x="1817463" y="32535"/>
                  </a:cubicBezTo>
                  <a:lnTo>
                    <a:pt x="1817463" y="207950"/>
                  </a:lnTo>
                  <a:cubicBezTo>
                    <a:pt x="1817463" y="225919"/>
                    <a:pt x="1802897" y="240486"/>
                    <a:pt x="1784928" y="240486"/>
                  </a:cubicBezTo>
                  <a:lnTo>
                    <a:pt x="32535" y="240486"/>
                  </a:lnTo>
                  <a:cubicBezTo>
                    <a:pt x="14567" y="240486"/>
                    <a:pt x="0" y="225919"/>
                    <a:pt x="0" y="207950"/>
                  </a:cubicBezTo>
                  <a:lnTo>
                    <a:pt x="0" y="32535"/>
                  </a:lnTo>
                  <a:cubicBezTo>
                    <a:pt x="0" y="14567"/>
                    <a:pt x="14567" y="0"/>
                    <a:pt x="32535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42875"/>
              <a:ext cx="1817463" cy="383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8. Secure Document Management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76359">
            <a:off x="-4208668" y="271615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6" y="0"/>
                </a:lnTo>
                <a:lnTo>
                  <a:pt x="10474736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90575" y="906682"/>
            <a:ext cx="5953043" cy="67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KEY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0575" y="310741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5003403"/>
            <a:ext cx="6838500" cy="3900941"/>
            <a:chOff x="0" y="0"/>
            <a:chExt cx="1801086" cy="10274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01086" cy="1027408"/>
            </a:xfrm>
            <a:custGeom>
              <a:avLst/>
              <a:gdLst/>
              <a:ahLst/>
              <a:cxnLst/>
              <a:rect l="l" t="t" r="r" b="b"/>
              <a:pathLst>
                <a:path w="1801086" h="1027408">
                  <a:moveTo>
                    <a:pt x="28303" y="0"/>
                  </a:moveTo>
                  <a:lnTo>
                    <a:pt x="1772784" y="0"/>
                  </a:lnTo>
                  <a:cubicBezTo>
                    <a:pt x="1780290" y="0"/>
                    <a:pt x="1787489" y="2982"/>
                    <a:pt x="1792797" y="8290"/>
                  </a:cubicBezTo>
                  <a:cubicBezTo>
                    <a:pt x="1798105" y="13597"/>
                    <a:pt x="1801086" y="20796"/>
                    <a:pt x="1801086" y="28303"/>
                  </a:cubicBezTo>
                  <a:lnTo>
                    <a:pt x="1801086" y="999105"/>
                  </a:lnTo>
                  <a:cubicBezTo>
                    <a:pt x="1801086" y="1006612"/>
                    <a:pt x="1798105" y="1013811"/>
                    <a:pt x="1792797" y="1019119"/>
                  </a:cubicBezTo>
                  <a:cubicBezTo>
                    <a:pt x="1787489" y="1024426"/>
                    <a:pt x="1780290" y="1027408"/>
                    <a:pt x="1772784" y="1027408"/>
                  </a:cubicBezTo>
                  <a:lnTo>
                    <a:pt x="28303" y="1027408"/>
                  </a:lnTo>
                  <a:cubicBezTo>
                    <a:pt x="20796" y="1027408"/>
                    <a:pt x="13597" y="1024426"/>
                    <a:pt x="8290" y="1019119"/>
                  </a:cubicBezTo>
                  <a:cubicBezTo>
                    <a:pt x="2982" y="1013811"/>
                    <a:pt x="0" y="1006612"/>
                    <a:pt x="0" y="999105"/>
                  </a:cubicBezTo>
                  <a:lnTo>
                    <a:pt x="0" y="28303"/>
                  </a:lnTo>
                  <a:cubicBezTo>
                    <a:pt x="0" y="20796"/>
                    <a:pt x="2982" y="13597"/>
                    <a:pt x="8290" y="8290"/>
                  </a:cubicBezTo>
                  <a:cubicBezTo>
                    <a:pt x="13597" y="2982"/>
                    <a:pt x="20796" y="0"/>
                    <a:pt x="28303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1801086" cy="112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49708" y="5241528"/>
            <a:ext cx="5796485" cy="366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HR Dashboard: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Pending verifications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Employee claim history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Total Utilization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Finance Dashboard: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Approved claims pending payment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Settlement tracking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Financial liability overview</a:t>
            </a:r>
          </a:p>
          <a:p>
            <a:pPr algn="l">
              <a:lnSpc>
                <a:spcPts val="2862"/>
              </a:lnSpc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Value: Enables faster decision making</a:t>
            </a:r>
          </a:p>
          <a:p>
            <a:pPr algn="l">
              <a:lnSpc>
                <a:spcPts val="2862"/>
              </a:lnSpc>
            </a:pPr>
            <a:endParaRPr lang="en-US" sz="2044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028700" y="3456734"/>
            <a:ext cx="6838500" cy="1199007"/>
            <a:chOff x="0" y="0"/>
            <a:chExt cx="1801086" cy="3157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1086" cy="315788"/>
            </a:xfrm>
            <a:custGeom>
              <a:avLst/>
              <a:gdLst/>
              <a:ahLst/>
              <a:cxnLst/>
              <a:rect l="l" t="t" r="r" b="b"/>
              <a:pathLst>
                <a:path w="1801086" h="315788">
                  <a:moveTo>
                    <a:pt x="32831" y="0"/>
                  </a:moveTo>
                  <a:lnTo>
                    <a:pt x="1768255" y="0"/>
                  </a:lnTo>
                  <a:cubicBezTo>
                    <a:pt x="1776963" y="0"/>
                    <a:pt x="1785313" y="3459"/>
                    <a:pt x="1791470" y="9616"/>
                  </a:cubicBezTo>
                  <a:cubicBezTo>
                    <a:pt x="1797627" y="15773"/>
                    <a:pt x="1801086" y="24124"/>
                    <a:pt x="1801086" y="32831"/>
                  </a:cubicBezTo>
                  <a:lnTo>
                    <a:pt x="1801086" y="282957"/>
                  </a:lnTo>
                  <a:cubicBezTo>
                    <a:pt x="1801086" y="301089"/>
                    <a:pt x="1786387" y="315788"/>
                    <a:pt x="1768255" y="315788"/>
                  </a:cubicBezTo>
                  <a:lnTo>
                    <a:pt x="32831" y="315788"/>
                  </a:lnTo>
                  <a:cubicBezTo>
                    <a:pt x="24124" y="315788"/>
                    <a:pt x="15773" y="312329"/>
                    <a:pt x="9616" y="306172"/>
                  </a:cubicBezTo>
                  <a:cubicBezTo>
                    <a:pt x="3459" y="300015"/>
                    <a:pt x="0" y="291664"/>
                    <a:pt x="0" y="282957"/>
                  </a:cubicBezTo>
                  <a:lnTo>
                    <a:pt x="0" y="32831"/>
                  </a:lnTo>
                  <a:cubicBezTo>
                    <a:pt x="0" y="24124"/>
                    <a:pt x="3459" y="15773"/>
                    <a:pt x="9616" y="9616"/>
                  </a:cubicBezTo>
                  <a:cubicBezTo>
                    <a:pt x="15773" y="3459"/>
                    <a:pt x="24124" y="0"/>
                    <a:pt x="32831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42875"/>
              <a:ext cx="1801086" cy="458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9. Administrative Dashboards for HR &amp; Finance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96707" y="2700508"/>
            <a:ext cx="6838500" cy="3900941"/>
            <a:chOff x="0" y="0"/>
            <a:chExt cx="1801086" cy="10274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01086" cy="1027408"/>
            </a:xfrm>
            <a:custGeom>
              <a:avLst/>
              <a:gdLst/>
              <a:ahLst/>
              <a:cxnLst/>
              <a:rect l="l" t="t" r="r" b="b"/>
              <a:pathLst>
                <a:path w="1801086" h="1027408">
                  <a:moveTo>
                    <a:pt x="28303" y="0"/>
                  </a:moveTo>
                  <a:lnTo>
                    <a:pt x="1772784" y="0"/>
                  </a:lnTo>
                  <a:cubicBezTo>
                    <a:pt x="1780290" y="0"/>
                    <a:pt x="1787489" y="2982"/>
                    <a:pt x="1792797" y="8290"/>
                  </a:cubicBezTo>
                  <a:cubicBezTo>
                    <a:pt x="1798105" y="13597"/>
                    <a:pt x="1801086" y="20796"/>
                    <a:pt x="1801086" y="28303"/>
                  </a:cubicBezTo>
                  <a:lnTo>
                    <a:pt x="1801086" y="999105"/>
                  </a:lnTo>
                  <a:cubicBezTo>
                    <a:pt x="1801086" y="1006612"/>
                    <a:pt x="1798105" y="1013811"/>
                    <a:pt x="1792797" y="1019119"/>
                  </a:cubicBezTo>
                  <a:cubicBezTo>
                    <a:pt x="1787489" y="1024426"/>
                    <a:pt x="1780290" y="1027408"/>
                    <a:pt x="1772784" y="1027408"/>
                  </a:cubicBezTo>
                  <a:lnTo>
                    <a:pt x="28303" y="1027408"/>
                  </a:lnTo>
                  <a:cubicBezTo>
                    <a:pt x="20796" y="1027408"/>
                    <a:pt x="13597" y="1024426"/>
                    <a:pt x="8290" y="1019119"/>
                  </a:cubicBezTo>
                  <a:cubicBezTo>
                    <a:pt x="2982" y="1013811"/>
                    <a:pt x="0" y="1006612"/>
                    <a:pt x="0" y="999105"/>
                  </a:cubicBezTo>
                  <a:lnTo>
                    <a:pt x="0" y="28303"/>
                  </a:lnTo>
                  <a:cubicBezTo>
                    <a:pt x="0" y="20796"/>
                    <a:pt x="2982" y="13597"/>
                    <a:pt x="8290" y="8290"/>
                  </a:cubicBezTo>
                  <a:cubicBezTo>
                    <a:pt x="13597" y="2982"/>
                    <a:pt x="20796" y="0"/>
                    <a:pt x="28303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1801086" cy="112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117714" y="2938633"/>
            <a:ext cx="5796485" cy="257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Reports covering: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Pending vs. settled claims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Monthly and annual utilization</a:t>
            </a:r>
          </a:p>
          <a:p>
            <a:pPr marL="882883" lvl="2" indent="-294294" algn="l">
              <a:lnSpc>
                <a:spcPts val="2862"/>
              </a:lnSpc>
              <a:buAutoNum type="alphaL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Claim aging analysis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Complete digital audit trail for all actions</a:t>
            </a:r>
          </a:p>
          <a:p>
            <a:pPr algn="l">
              <a:lnSpc>
                <a:spcPts val="2862"/>
              </a:lnSpc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Value: Simplifies audits and financial reviews</a:t>
            </a:r>
          </a:p>
          <a:p>
            <a:pPr algn="l">
              <a:lnSpc>
                <a:spcPts val="2862"/>
              </a:lnSpc>
            </a:pPr>
            <a:endParaRPr lang="en-US" sz="2044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9534525" y="1204912"/>
            <a:ext cx="6900681" cy="913094"/>
            <a:chOff x="0" y="0"/>
            <a:chExt cx="1817463" cy="2404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17463" cy="240486"/>
            </a:xfrm>
            <a:custGeom>
              <a:avLst/>
              <a:gdLst/>
              <a:ahLst/>
              <a:cxnLst/>
              <a:rect l="l" t="t" r="r" b="b"/>
              <a:pathLst>
                <a:path w="1817463" h="240486">
                  <a:moveTo>
                    <a:pt x="32535" y="0"/>
                  </a:moveTo>
                  <a:lnTo>
                    <a:pt x="1784928" y="0"/>
                  </a:lnTo>
                  <a:cubicBezTo>
                    <a:pt x="1802897" y="0"/>
                    <a:pt x="1817463" y="14567"/>
                    <a:pt x="1817463" y="32535"/>
                  </a:cubicBezTo>
                  <a:lnTo>
                    <a:pt x="1817463" y="207950"/>
                  </a:lnTo>
                  <a:cubicBezTo>
                    <a:pt x="1817463" y="225919"/>
                    <a:pt x="1802897" y="240486"/>
                    <a:pt x="1784928" y="240486"/>
                  </a:cubicBezTo>
                  <a:lnTo>
                    <a:pt x="32535" y="240486"/>
                  </a:lnTo>
                  <a:cubicBezTo>
                    <a:pt x="14567" y="240486"/>
                    <a:pt x="0" y="225919"/>
                    <a:pt x="0" y="207950"/>
                  </a:cubicBezTo>
                  <a:lnTo>
                    <a:pt x="0" y="32535"/>
                  </a:lnTo>
                  <a:cubicBezTo>
                    <a:pt x="0" y="14567"/>
                    <a:pt x="14567" y="0"/>
                    <a:pt x="32535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42875"/>
              <a:ext cx="1817463" cy="383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10. Reporting &amp; Audit Readiness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76359">
            <a:off x="-4208668" y="271615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6" y="0"/>
                </a:lnTo>
                <a:lnTo>
                  <a:pt x="10474736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90575" y="906682"/>
            <a:ext cx="5953043" cy="67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KEY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0575" y="310741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5003403"/>
            <a:ext cx="6838500" cy="3900941"/>
            <a:chOff x="0" y="0"/>
            <a:chExt cx="1801086" cy="10274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01086" cy="1027408"/>
            </a:xfrm>
            <a:custGeom>
              <a:avLst/>
              <a:gdLst/>
              <a:ahLst/>
              <a:cxnLst/>
              <a:rect l="l" t="t" r="r" b="b"/>
              <a:pathLst>
                <a:path w="1801086" h="1027408">
                  <a:moveTo>
                    <a:pt x="28303" y="0"/>
                  </a:moveTo>
                  <a:lnTo>
                    <a:pt x="1772784" y="0"/>
                  </a:lnTo>
                  <a:cubicBezTo>
                    <a:pt x="1780290" y="0"/>
                    <a:pt x="1787489" y="2982"/>
                    <a:pt x="1792797" y="8290"/>
                  </a:cubicBezTo>
                  <a:cubicBezTo>
                    <a:pt x="1798105" y="13597"/>
                    <a:pt x="1801086" y="20796"/>
                    <a:pt x="1801086" y="28303"/>
                  </a:cubicBezTo>
                  <a:lnTo>
                    <a:pt x="1801086" y="999105"/>
                  </a:lnTo>
                  <a:cubicBezTo>
                    <a:pt x="1801086" y="1006612"/>
                    <a:pt x="1798105" y="1013811"/>
                    <a:pt x="1792797" y="1019119"/>
                  </a:cubicBezTo>
                  <a:cubicBezTo>
                    <a:pt x="1787489" y="1024426"/>
                    <a:pt x="1780290" y="1027408"/>
                    <a:pt x="1772784" y="1027408"/>
                  </a:cubicBezTo>
                  <a:lnTo>
                    <a:pt x="28303" y="1027408"/>
                  </a:lnTo>
                  <a:cubicBezTo>
                    <a:pt x="20796" y="1027408"/>
                    <a:pt x="13597" y="1024426"/>
                    <a:pt x="8290" y="1019119"/>
                  </a:cubicBezTo>
                  <a:cubicBezTo>
                    <a:pt x="2982" y="1013811"/>
                    <a:pt x="0" y="1006612"/>
                    <a:pt x="0" y="999105"/>
                  </a:cubicBezTo>
                  <a:lnTo>
                    <a:pt x="0" y="28303"/>
                  </a:lnTo>
                  <a:cubicBezTo>
                    <a:pt x="0" y="20796"/>
                    <a:pt x="2982" y="13597"/>
                    <a:pt x="8290" y="8290"/>
                  </a:cubicBezTo>
                  <a:cubicBezTo>
                    <a:pt x="13597" y="2982"/>
                    <a:pt x="20796" y="0"/>
                    <a:pt x="28303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1801086" cy="112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49708" y="5241528"/>
            <a:ext cx="5796485" cy="293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Works seamlessly on desktop, tablet, and mobile browsers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No application installation required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Automatically scales during peak claim periods</a:t>
            </a:r>
          </a:p>
          <a:p>
            <a:pPr algn="l">
              <a:lnSpc>
                <a:spcPts val="2862"/>
              </a:lnSpc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Value: Future-proof, cost-efficient, and highly available</a:t>
            </a:r>
          </a:p>
          <a:p>
            <a:pPr algn="l">
              <a:lnSpc>
                <a:spcPts val="2862"/>
              </a:lnSpc>
            </a:pPr>
            <a:endParaRPr lang="en-US" sz="2044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028700" y="3456734"/>
            <a:ext cx="6838500" cy="1199007"/>
            <a:chOff x="0" y="0"/>
            <a:chExt cx="1801086" cy="3157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01086" cy="315788"/>
            </a:xfrm>
            <a:custGeom>
              <a:avLst/>
              <a:gdLst/>
              <a:ahLst/>
              <a:cxnLst/>
              <a:rect l="l" t="t" r="r" b="b"/>
              <a:pathLst>
                <a:path w="1801086" h="315788">
                  <a:moveTo>
                    <a:pt x="32831" y="0"/>
                  </a:moveTo>
                  <a:lnTo>
                    <a:pt x="1768255" y="0"/>
                  </a:lnTo>
                  <a:cubicBezTo>
                    <a:pt x="1776963" y="0"/>
                    <a:pt x="1785313" y="3459"/>
                    <a:pt x="1791470" y="9616"/>
                  </a:cubicBezTo>
                  <a:cubicBezTo>
                    <a:pt x="1797627" y="15773"/>
                    <a:pt x="1801086" y="24124"/>
                    <a:pt x="1801086" y="32831"/>
                  </a:cubicBezTo>
                  <a:lnTo>
                    <a:pt x="1801086" y="282957"/>
                  </a:lnTo>
                  <a:cubicBezTo>
                    <a:pt x="1801086" y="301089"/>
                    <a:pt x="1786387" y="315788"/>
                    <a:pt x="1768255" y="315788"/>
                  </a:cubicBezTo>
                  <a:lnTo>
                    <a:pt x="32831" y="315788"/>
                  </a:lnTo>
                  <a:cubicBezTo>
                    <a:pt x="24124" y="315788"/>
                    <a:pt x="15773" y="312329"/>
                    <a:pt x="9616" y="306172"/>
                  </a:cubicBezTo>
                  <a:cubicBezTo>
                    <a:pt x="3459" y="300015"/>
                    <a:pt x="0" y="291664"/>
                    <a:pt x="0" y="282957"/>
                  </a:cubicBezTo>
                  <a:lnTo>
                    <a:pt x="0" y="32831"/>
                  </a:lnTo>
                  <a:cubicBezTo>
                    <a:pt x="0" y="24124"/>
                    <a:pt x="3459" y="15773"/>
                    <a:pt x="9616" y="9616"/>
                  </a:cubicBezTo>
                  <a:cubicBezTo>
                    <a:pt x="15773" y="3459"/>
                    <a:pt x="24124" y="0"/>
                    <a:pt x="32831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42875"/>
              <a:ext cx="1801086" cy="458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11. Mobile-Responsive &amp; Cloud-Native Architecture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96707" y="2700508"/>
            <a:ext cx="6838500" cy="3900941"/>
            <a:chOff x="0" y="0"/>
            <a:chExt cx="1801086" cy="10274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01086" cy="1027408"/>
            </a:xfrm>
            <a:custGeom>
              <a:avLst/>
              <a:gdLst/>
              <a:ahLst/>
              <a:cxnLst/>
              <a:rect l="l" t="t" r="r" b="b"/>
              <a:pathLst>
                <a:path w="1801086" h="1027408">
                  <a:moveTo>
                    <a:pt x="28303" y="0"/>
                  </a:moveTo>
                  <a:lnTo>
                    <a:pt x="1772784" y="0"/>
                  </a:lnTo>
                  <a:cubicBezTo>
                    <a:pt x="1780290" y="0"/>
                    <a:pt x="1787489" y="2982"/>
                    <a:pt x="1792797" y="8290"/>
                  </a:cubicBezTo>
                  <a:cubicBezTo>
                    <a:pt x="1798105" y="13597"/>
                    <a:pt x="1801086" y="20796"/>
                    <a:pt x="1801086" y="28303"/>
                  </a:cubicBezTo>
                  <a:lnTo>
                    <a:pt x="1801086" y="999105"/>
                  </a:lnTo>
                  <a:cubicBezTo>
                    <a:pt x="1801086" y="1006612"/>
                    <a:pt x="1798105" y="1013811"/>
                    <a:pt x="1792797" y="1019119"/>
                  </a:cubicBezTo>
                  <a:cubicBezTo>
                    <a:pt x="1787489" y="1024426"/>
                    <a:pt x="1780290" y="1027408"/>
                    <a:pt x="1772784" y="1027408"/>
                  </a:cubicBezTo>
                  <a:lnTo>
                    <a:pt x="28303" y="1027408"/>
                  </a:lnTo>
                  <a:cubicBezTo>
                    <a:pt x="20796" y="1027408"/>
                    <a:pt x="13597" y="1024426"/>
                    <a:pt x="8290" y="1019119"/>
                  </a:cubicBezTo>
                  <a:cubicBezTo>
                    <a:pt x="2982" y="1013811"/>
                    <a:pt x="0" y="1006612"/>
                    <a:pt x="0" y="999105"/>
                  </a:cubicBezTo>
                  <a:lnTo>
                    <a:pt x="0" y="28303"/>
                  </a:lnTo>
                  <a:cubicBezTo>
                    <a:pt x="0" y="20796"/>
                    <a:pt x="2982" y="13597"/>
                    <a:pt x="8290" y="8290"/>
                  </a:cubicBezTo>
                  <a:cubicBezTo>
                    <a:pt x="13597" y="2982"/>
                    <a:pt x="20796" y="0"/>
                    <a:pt x="28303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1801086" cy="112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117714" y="2938633"/>
            <a:ext cx="5796485" cy="293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Secure authentication with Single Sign-On (SSO)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Role-based access (Employee, HR, Finance)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Data encryption in transit and at rest</a:t>
            </a:r>
          </a:p>
          <a:p>
            <a:pPr marL="441442" lvl="1" indent="-220721" algn="l">
              <a:lnSpc>
                <a:spcPts val="2862"/>
              </a:lnSpc>
              <a:buAutoNum type="arabicPeriod"/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Automatic session timeouts</a:t>
            </a:r>
          </a:p>
          <a:p>
            <a:pPr algn="l">
              <a:lnSpc>
                <a:spcPts val="2862"/>
              </a:lnSpc>
            </a:pPr>
            <a:r>
              <a:rPr lang="en-US" sz="20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Value: Meets enterprise grade security and compliance standards</a:t>
            </a:r>
          </a:p>
          <a:p>
            <a:pPr algn="l">
              <a:lnSpc>
                <a:spcPts val="2862"/>
              </a:lnSpc>
            </a:pPr>
            <a:endParaRPr lang="en-US" sz="2044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9534525" y="1204912"/>
            <a:ext cx="6900681" cy="913094"/>
            <a:chOff x="0" y="0"/>
            <a:chExt cx="1817463" cy="2404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17463" cy="240486"/>
            </a:xfrm>
            <a:custGeom>
              <a:avLst/>
              <a:gdLst/>
              <a:ahLst/>
              <a:cxnLst/>
              <a:rect l="l" t="t" r="r" b="b"/>
              <a:pathLst>
                <a:path w="1817463" h="240486">
                  <a:moveTo>
                    <a:pt x="32535" y="0"/>
                  </a:moveTo>
                  <a:lnTo>
                    <a:pt x="1784928" y="0"/>
                  </a:lnTo>
                  <a:cubicBezTo>
                    <a:pt x="1802897" y="0"/>
                    <a:pt x="1817463" y="14567"/>
                    <a:pt x="1817463" y="32535"/>
                  </a:cubicBezTo>
                  <a:lnTo>
                    <a:pt x="1817463" y="207950"/>
                  </a:lnTo>
                  <a:cubicBezTo>
                    <a:pt x="1817463" y="225919"/>
                    <a:pt x="1802897" y="240486"/>
                    <a:pt x="1784928" y="240486"/>
                  </a:cubicBezTo>
                  <a:lnTo>
                    <a:pt x="32535" y="240486"/>
                  </a:lnTo>
                  <a:cubicBezTo>
                    <a:pt x="14567" y="240486"/>
                    <a:pt x="0" y="225919"/>
                    <a:pt x="0" y="207950"/>
                  </a:cubicBezTo>
                  <a:lnTo>
                    <a:pt x="0" y="32535"/>
                  </a:lnTo>
                  <a:cubicBezTo>
                    <a:pt x="0" y="14567"/>
                    <a:pt x="14567" y="0"/>
                    <a:pt x="32535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42875"/>
              <a:ext cx="1817463" cy="383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12. Security &amp; Compliance by Design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41395" flipH="1" flipV="1">
            <a:off x="10087768" y="-3032886"/>
            <a:ext cx="10989677" cy="15344078"/>
          </a:xfrm>
          <a:custGeom>
            <a:avLst/>
            <a:gdLst/>
            <a:ahLst/>
            <a:cxnLst/>
            <a:rect l="l" t="t" r="r" b="b"/>
            <a:pathLst>
              <a:path w="10989677" h="15344078">
                <a:moveTo>
                  <a:pt x="10989678" y="15344078"/>
                </a:moveTo>
                <a:lnTo>
                  <a:pt x="0" y="15344078"/>
                </a:lnTo>
                <a:lnTo>
                  <a:pt x="0" y="0"/>
                </a:lnTo>
                <a:lnTo>
                  <a:pt x="10989678" y="0"/>
                </a:lnTo>
                <a:lnTo>
                  <a:pt x="10989678" y="153440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601012" y="4258853"/>
            <a:ext cx="6423266" cy="2098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5195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MULTI-STAGE APPROVAL WORKFLOW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01012" y="3496974"/>
            <a:ext cx="1603495" cy="56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09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996037" y="1237165"/>
            <a:ext cx="6222236" cy="7812670"/>
            <a:chOff x="0" y="0"/>
            <a:chExt cx="1638778" cy="20576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38778" cy="2057658"/>
            </a:xfrm>
            <a:custGeom>
              <a:avLst/>
              <a:gdLst/>
              <a:ahLst/>
              <a:cxnLst/>
              <a:rect l="l" t="t" r="r" b="b"/>
              <a:pathLst>
                <a:path w="1638778" h="2057658">
                  <a:moveTo>
                    <a:pt x="31106" y="0"/>
                  </a:moveTo>
                  <a:lnTo>
                    <a:pt x="1607672" y="0"/>
                  </a:lnTo>
                  <a:cubicBezTo>
                    <a:pt x="1624851" y="0"/>
                    <a:pt x="1638778" y="13927"/>
                    <a:pt x="1638778" y="31106"/>
                  </a:cubicBezTo>
                  <a:lnTo>
                    <a:pt x="1638778" y="2026552"/>
                  </a:lnTo>
                  <a:cubicBezTo>
                    <a:pt x="1638778" y="2043731"/>
                    <a:pt x="1624851" y="2057658"/>
                    <a:pt x="1607672" y="2057658"/>
                  </a:cubicBezTo>
                  <a:lnTo>
                    <a:pt x="31106" y="2057658"/>
                  </a:lnTo>
                  <a:cubicBezTo>
                    <a:pt x="13927" y="2057658"/>
                    <a:pt x="0" y="2043731"/>
                    <a:pt x="0" y="2026552"/>
                  </a:cubicBezTo>
                  <a:lnTo>
                    <a:pt x="0" y="31106"/>
                  </a:lnTo>
                  <a:cubicBezTo>
                    <a:pt x="0" y="13927"/>
                    <a:pt x="13927" y="0"/>
                    <a:pt x="31106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1638778" cy="2152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364756" y="1822455"/>
            <a:ext cx="3543227" cy="741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2799" b="1">
                <a:solidFill>
                  <a:srgbClr val="640F9F"/>
                </a:solidFill>
                <a:latin typeface="Agrandir Bold"/>
                <a:ea typeface="Agrandir Bold"/>
                <a:cs typeface="Agrandir Bold"/>
                <a:sym typeface="Agrandir Bold"/>
              </a:rPr>
              <a:t>END-TO-END CLAIM LIFECYCLE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364756" y="4306478"/>
            <a:ext cx="5522389" cy="2442376"/>
            <a:chOff x="0" y="0"/>
            <a:chExt cx="1433796" cy="6341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3796" cy="634122"/>
            </a:xfrm>
            <a:custGeom>
              <a:avLst/>
              <a:gdLst/>
              <a:ahLst/>
              <a:cxnLst/>
              <a:rect l="l" t="t" r="r" b="b"/>
              <a:pathLst>
                <a:path w="1433796" h="634122">
                  <a:moveTo>
                    <a:pt x="26636" y="0"/>
                  </a:moveTo>
                  <a:lnTo>
                    <a:pt x="1407160" y="0"/>
                  </a:lnTo>
                  <a:cubicBezTo>
                    <a:pt x="1414224" y="0"/>
                    <a:pt x="1420999" y="2806"/>
                    <a:pt x="1425995" y="7802"/>
                  </a:cubicBezTo>
                  <a:cubicBezTo>
                    <a:pt x="1430990" y="12797"/>
                    <a:pt x="1433796" y="19572"/>
                    <a:pt x="1433796" y="26636"/>
                  </a:cubicBezTo>
                  <a:lnTo>
                    <a:pt x="1433796" y="607486"/>
                  </a:lnTo>
                  <a:cubicBezTo>
                    <a:pt x="1433796" y="614550"/>
                    <a:pt x="1430990" y="621325"/>
                    <a:pt x="1425995" y="626321"/>
                  </a:cubicBezTo>
                  <a:cubicBezTo>
                    <a:pt x="1420999" y="631316"/>
                    <a:pt x="1414224" y="634122"/>
                    <a:pt x="1407160" y="634122"/>
                  </a:cubicBezTo>
                  <a:lnTo>
                    <a:pt x="26636" y="634122"/>
                  </a:lnTo>
                  <a:cubicBezTo>
                    <a:pt x="19572" y="634122"/>
                    <a:pt x="12797" y="631316"/>
                    <a:pt x="7802" y="626321"/>
                  </a:cubicBezTo>
                  <a:cubicBezTo>
                    <a:pt x="2806" y="621325"/>
                    <a:pt x="0" y="614550"/>
                    <a:pt x="0" y="607486"/>
                  </a:cubicBezTo>
                  <a:lnTo>
                    <a:pt x="0" y="26636"/>
                  </a:lnTo>
                  <a:cubicBezTo>
                    <a:pt x="0" y="19572"/>
                    <a:pt x="2806" y="12797"/>
                    <a:pt x="7802" y="7802"/>
                  </a:cubicBezTo>
                  <a:cubicBezTo>
                    <a:pt x="12797" y="2806"/>
                    <a:pt x="19572" y="0"/>
                    <a:pt x="26636" y="0"/>
                  </a:cubicBezTo>
                  <a:close/>
                </a:path>
              </a:pathLst>
            </a:custGeom>
            <a:blipFill>
              <a:blip r:embed="rId4"/>
              <a:stretch>
                <a:fillRect t="-25369" b="-2536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777296" y="7799911"/>
            <a:ext cx="2614166" cy="395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198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+123-456-7890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21088" y="7799911"/>
            <a:ext cx="3589526" cy="397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84"/>
              </a:lnSpc>
            </a:pPr>
            <a:r>
              <a:rPr lang="en-US" sz="198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helllo@reallygreatsite.com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28196" y="3704528"/>
            <a:ext cx="5233957" cy="5553772"/>
          </a:xfrm>
          <a:custGeom>
            <a:avLst/>
            <a:gdLst/>
            <a:ahLst/>
            <a:cxnLst/>
            <a:rect l="l" t="t" r="r" b="b"/>
            <a:pathLst>
              <a:path w="5233957" h="5553772">
                <a:moveTo>
                  <a:pt x="0" y="0"/>
                </a:moveTo>
                <a:lnTo>
                  <a:pt x="5233956" y="0"/>
                </a:lnTo>
                <a:lnTo>
                  <a:pt x="5233956" y="5553772"/>
                </a:lnTo>
                <a:lnTo>
                  <a:pt x="0" y="5553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6205" b="-5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35757" y="1966683"/>
            <a:ext cx="11861130" cy="67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WORK  FLOW  DIAGRAM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35757" y="1370742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10</a:t>
            </a:r>
          </a:p>
        </p:txBody>
      </p:sp>
      <p:sp>
        <p:nvSpPr>
          <p:cNvPr id="5" name="Freeform 5"/>
          <p:cNvSpPr/>
          <p:nvPr/>
        </p:nvSpPr>
        <p:spPr>
          <a:xfrm>
            <a:off x="7566322" y="2990160"/>
            <a:ext cx="4690379" cy="6206949"/>
          </a:xfrm>
          <a:custGeom>
            <a:avLst/>
            <a:gdLst/>
            <a:ahLst/>
            <a:cxnLst/>
            <a:rect l="l" t="t" r="r" b="b"/>
            <a:pathLst>
              <a:path w="4690379" h="6206949">
                <a:moveTo>
                  <a:pt x="0" y="0"/>
                </a:moveTo>
                <a:lnTo>
                  <a:pt x="4690379" y="0"/>
                </a:lnTo>
                <a:lnTo>
                  <a:pt x="4690379" y="6206948"/>
                </a:lnTo>
                <a:lnTo>
                  <a:pt x="0" y="6206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818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0098585" y="9197108"/>
            <a:ext cx="191241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H="1">
            <a:off x="12010996" y="3028259"/>
            <a:ext cx="0" cy="61688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12011115" y="2990160"/>
            <a:ext cx="3044362" cy="381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H="1" flipV="1">
            <a:off x="15055477" y="2990160"/>
            <a:ext cx="0" cy="7143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35757" y="4164288"/>
            <a:ext cx="4303423" cy="2866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644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This workflow illustrates how employee claims are reviewed, approved,and disbursed through HR and Finance governance controls.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35757" y="1966683"/>
            <a:ext cx="13767574" cy="67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CLAIM PROCESSING SCENARIOS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35757" y="2860851"/>
            <a:ext cx="14801975" cy="2232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4051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This section explains how the system responds to claim submissions under successful approvals and rejection scenarios.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35757" y="1319863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35757" y="1966683"/>
            <a:ext cx="13767574" cy="120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CLAIM APPROVAL – SUCCESS SCENARIO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335724" y="4042565"/>
            <a:ext cx="5531476" cy="4415043"/>
            <a:chOff x="0" y="0"/>
            <a:chExt cx="1801086" cy="14375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01086" cy="1437568"/>
            </a:xfrm>
            <a:custGeom>
              <a:avLst/>
              <a:gdLst/>
              <a:ahLst/>
              <a:cxnLst/>
              <a:rect l="l" t="t" r="r" b="b"/>
              <a:pathLst>
                <a:path w="1801086" h="1437568">
                  <a:moveTo>
                    <a:pt x="34990" y="0"/>
                  </a:moveTo>
                  <a:lnTo>
                    <a:pt x="1766096" y="0"/>
                  </a:lnTo>
                  <a:cubicBezTo>
                    <a:pt x="1775376" y="0"/>
                    <a:pt x="1784276" y="3686"/>
                    <a:pt x="1790838" y="10248"/>
                  </a:cubicBezTo>
                  <a:cubicBezTo>
                    <a:pt x="1797400" y="16810"/>
                    <a:pt x="1801086" y="25710"/>
                    <a:pt x="1801086" y="34990"/>
                  </a:cubicBezTo>
                  <a:lnTo>
                    <a:pt x="1801086" y="1402578"/>
                  </a:lnTo>
                  <a:cubicBezTo>
                    <a:pt x="1801086" y="1411858"/>
                    <a:pt x="1797400" y="1420758"/>
                    <a:pt x="1790838" y="1427320"/>
                  </a:cubicBezTo>
                  <a:cubicBezTo>
                    <a:pt x="1784276" y="1433882"/>
                    <a:pt x="1775376" y="1437568"/>
                    <a:pt x="1766096" y="1437568"/>
                  </a:cubicBezTo>
                  <a:lnTo>
                    <a:pt x="34990" y="1437568"/>
                  </a:lnTo>
                  <a:cubicBezTo>
                    <a:pt x="15666" y="1437568"/>
                    <a:pt x="0" y="1421902"/>
                    <a:pt x="0" y="1402578"/>
                  </a:cubicBezTo>
                  <a:lnTo>
                    <a:pt x="0" y="34990"/>
                  </a:lnTo>
                  <a:cubicBezTo>
                    <a:pt x="0" y="25710"/>
                    <a:pt x="3686" y="16810"/>
                    <a:pt x="10248" y="10248"/>
                  </a:cubicBezTo>
                  <a:cubicBezTo>
                    <a:pt x="16810" y="3686"/>
                    <a:pt x="25710" y="0"/>
                    <a:pt x="34990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801086" cy="1532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43111" y="3303989"/>
            <a:ext cx="3601277" cy="738577"/>
            <a:chOff x="0" y="0"/>
            <a:chExt cx="1172600" cy="2404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2600" cy="240486"/>
            </a:xfrm>
            <a:custGeom>
              <a:avLst/>
              <a:gdLst/>
              <a:ahLst/>
              <a:cxnLst/>
              <a:rect l="l" t="t" r="r" b="b"/>
              <a:pathLst>
                <a:path w="1172600" h="240486">
                  <a:moveTo>
                    <a:pt x="45145" y="0"/>
                  </a:moveTo>
                  <a:lnTo>
                    <a:pt x="1127455" y="0"/>
                  </a:lnTo>
                  <a:cubicBezTo>
                    <a:pt x="1152388" y="0"/>
                    <a:pt x="1172600" y="20212"/>
                    <a:pt x="1172600" y="45145"/>
                  </a:cubicBezTo>
                  <a:lnTo>
                    <a:pt x="1172600" y="195340"/>
                  </a:lnTo>
                  <a:cubicBezTo>
                    <a:pt x="1172600" y="207314"/>
                    <a:pt x="1167844" y="218797"/>
                    <a:pt x="1159377" y="227263"/>
                  </a:cubicBezTo>
                  <a:cubicBezTo>
                    <a:pt x="1150911" y="235729"/>
                    <a:pt x="1139428" y="240486"/>
                    <a:pt x="1127455" y="240486"/>
                  </a:cubicBezTo>
                  <a:lnTo>
                    <a:pt x="45145" y="240486"/>
                  </a:lnTo>
                  <a:cubicBezTo>
                    <a:pt x="33172" y="240486"/>
                    <a:pt x="21689" y="235729"/>
                    <a:pt x="13223" y="227263"/>
                  </a:cubicBezTo>
                  <a:cubicBezTo>
                    <a:pt x="4756" y="218797"/>
                    <a:pt x="0" y="207314"/>
                    <a:pt x="0" y="195340"/>
                  </a:cubicBezTo>
                  <a:lnTo>
                    <a:pt x="0" y="45145"/>
                  </a:lnTo>
                  <a:cubicBezTo>
                    <a:pt x="0" y="33172"/>
                    <a:pt x="4756" y="21689"/>
                    <a:pt x="13223" y="13223"/>
                  </a:cubicBezTo>
                  <a:cubicBezTo>
                    <a:pt x="21689" y="4756"/>
                    <a:pt x="33172" y="0"/>
                    <a:pt x="45145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1172600" cy="335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510739" y="3518034"/>
            <a:ext cx="2866020" cy="347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1"/>
              </a:lnSpc>
            </a:pPr>
            <a:r>
              <a:rPr lang="en-US" sz="2264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USER ACTIONS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57152" y="4188398"/>
            <a:ext cx="4302788" cy="3415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Employee submits a medical claim with required documents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HR Head verifies policy compliance and approves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Finance reviews and confirms payment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1598286" y="4053023"/>
            <a:ext cx="5609800" cy="4786608"/>
            <a:chOff x="0" y="0"/>
            <a:chExt cx="1801086" cy="15367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01086" cy="1536792"/>
            </a:xfrm>
            <a:custGeom>
              <a:avLst/>
              <a:gdLst/>
              <a:ahLst/>
              <a:cxnLst/>
              <a:rect l="l" t="t" r="r" b="b"/>
              <a:pathLst>
                <a:path w="1801086" h="1536792">
                  <a:moveTo>
                    <a:pt x="34502" y="0"/>
                  </a:moveTo>
                  <a:lnTo>
                    <a:pt x="1766585" y="0"/>
                  </a:lnTo>
                  <a:cubicBezTo>
                    <a:pt x="1775735" y="0"/>
                    <a:pt x="1784511" y="3635"/>
                    <a:pt x="1790981" y="10105"/>
                  </a:cubicBezTo>
                  <a:cubicBezTo>
                    <a:pt x="1797451" y="16576"/>
                    <a:pt x="1801086" y="25351"/>
                    <a:pt x="1801086" y="34502"/>
                  </a:cubicBezTo>
                  <a:lnTo>
                    <a:pt x="1801086" y="1502290"/>
                  </a:lnTo>
                  <a:cubicBezTo>
                    <a:pt x="1801086" y="1511440"/>
                    <a:pt x="1797451" y="1520216"/>
                    <a:pt x="1790981" y="1526686"/>
                  </a:cubicBezTo>
                  <a:cubicBezTo>
                    <a:pt x="1784511" y="1533157"/>
                    <a:pt x="1775735" y="1536792"/>
                    <a:pt x="1766585" y="1536792"/>
                  </a:cubicBezTo>
                  <a:lnTo>
                    <a:pt x="34502" y="1536792"/>
                  </a:lnTo>
                  <a:cubicBezTo>
                    <a:pt x="15447" y="1536792"/>
                    <a:pt x="0" y="1521345"/>
                    <a:pt x="0" y="1502290"/>
                  </a:cubicBezTo>
                  <a:lnTo>
                    <a:pt x="0" y="34502"/>
                  </a:lnTo>
                  <a:cubicBezTo>
                    <a:pt x="0" y="25351"/>
                    <a:pt x="3635" y="16576"/>
                    <a:pt x="10105" y="10105"/>
                  </a:cubicBezTo>
                  <a:cubicBezTo>
                    <a:pt x="16576" y="3635"/>
                    <a:pt x="25351" y="0"/>
                    <a:pt x="34502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801086" cy="1632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02946" y="3303989"/>
            <a:ext cx="3652269" cy="749035"/>
            <a:chOff x="0" y="0"/>
            <a:chExt cx="1172600" cy="2404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72600" cy="240486"/>
            </a:xfrm>
            <a:custGeom>
              <a:avLst/>
              <a:gdLst/>
              <a:ahLst/>
              <a:cxnLst/>
              <a:rect l="l" t="t" r="r" b="b"/>
              <a:pathLst>
                <a:path w="1172600" h="240486">
                  <a:moveTo>
                    <a:pt x="44515" y="0"/>
                  </a:moveTo>
                  <a:lnTo>
                    <a:pt x="1128085" y="0"/>
                  </a:lnTo>
                  <a:cubicBezTo>
                    <a:pt x="1152670" y="0"/>
                    <a:pt x="1172600" y="19930"/>
                    <a:pt x="1172600" y="44515"/>
                  </a:cubicBezTo>
                  <a:lnTo>
                    <a:pt x="1172600" y="195971"/>
                  </a:lnTo>
                  <a:cubicBezTo>
                    <a:pt x="1172600" y="220556"/>
                    <a:pt x="1152670" y="240486"/>
                    <a:pt x="1128085" y="240486"/>
                  </a:cubicBezTo>
                  <a:lnTo>
                    <a:pt x="44515" y="240486"/>
                  </a:lnTo>
                  <a:cubicBezTo>
                    <a:pt x="19930" y="240486"/>
                    <a:pt x="0" y="220556"/>
                    <a:pt x="0" y="195971"/>
                  </a:cubicBezTo>
                  <a:lnTo>
                    <a:pt x="0" y="44515"/>
                  </a:lnTo>
                  <a:cubicBezTo>
                    <a:pt x="0" y="19930"/>
                    <a:pt x="19930" y="0"/>
                    <a:pt x="44515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1172600" cy="335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025682" y="4202675"/>
            <a:ext cx="4755008" cy="467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Claim added to Pending HR Verification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Automatic notification sent to Finance after HR approval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Claim marked as Settled / Disbursed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Utilized amount updated automatically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Employee notified upon payment completion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689830" y="3530725"/>
            <a:ext cx="3279436" cy="342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2296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SYSTEM ACTIONS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35757" y="8790983"/>
            <a:ext cx="1070101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Ensures fast processing, policy compliance, and accurate balance tracking.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35757" y="1379943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35757" y="1966683"/>
            <a:ext cx="13767574" cy="67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CLAIM REJECTION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335724" y="4042565"/>
            <a:ext cx="5531476" cy="4415043"/>
            <a:chOff x="0" y="0"/>
            <a:chExt cx="1801086" cy="14375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01086" cy="1437568"/>
            </a:xfrm>
            <a:custGeom>
              <a:avLst/>
              <a:gdLst/>
              <a:ahLst/>
              <a:cxnLst/>
              <a:rect l="l" t="t" r="r" b="b"/>
              <a:pathLst>
                <a:path w="1801086" h="1437568">
                  <a:moveTo>
                    <a:pt x="34990" y="0"/>
                  </a:moveTo>
                  <a:lnTo>
                    <a:pt x="1766096" y="0"/>
                  </a:lnTo>
                  <a:cubicBezTo>
                    <a:pt x="1775376" y="0"/>
                    <a:pt x="1784276" y="3686"/>
                    <a:pt x="1790838" y="10248"/>
                  </a:cubicBezTo>
                  <a:cubicBezTo>
                    <a:pt x="1797400" y="16810"/>
                    <a:pt x="1801086" y="25710"/>
                    <a:pt x="1801086" y="34990"/>
                  </a:cubicBezTo>
                  <a:lnTo>
                    <a:pt x="1801086" y="1402578"/>
                  </a:lnTo>
                  <a:cubicBezTo>
                    <a:pt x="1801086" y="1411858"/>
                    <a:pt x="1797400" y="1420758"/>
                    <a:pt x="1790838" y="1427320"/>
                  </a:cubicBezTo>
                  <a:cubicBezTo>
                    <a:pt x="1784276" y="1433882"/>
                    <a:pt x="1775376" y="1437568"/>
                    <a:pt x="1766096" y="1437568"/>
                  </a:cubicBezTo>
                  <a:lnTo>
                    <a:pt x="34990" y="1437568"/>
                  </a:lnTo>
                  <a:cubicBezTo>
                    <a:pt x="15666" y="1437568"/>
                    <a:pt x="0" y="1421902"/>
                    <a:pt x="0" y="1402578"/>
                  </a:cubicBezTo>
                  <a:lnTo>
                    <a:pt x="0" y="34990"/>
                  </a:lnTo>
                  <a:cubicBezTo>
                    <a:pt x="0" y="25710"/>
                    <a:pt x="3686" y="16810"/>
                    <a:pt x="10248" y="10248"/>
                  </a:cubicBezTo>
                  <a:cubicBezTo>
                    <a:pt x="16810" y="3686"/>
                    <a:pt x="25710" y="0"/>
                    <a:pt x="34990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801086" cy="1532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43111" y="3303989"/>
            <a:ext cx="3601277" cy="738577"/>
            <a:chOff x="0" y="0"/>
            <a:chExt cx="1172600" cy="2404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2600" cy="240486"/>
            </a:xfrm>
            <a:custGeom>
              <a:avLst/>
              <a:gdLst/>
              <a:ahLst/>
              <a:cxnLst/>
              <a:rect l="l" t="t" r="r" b="b"/>
              <a:pathLst>
                <a:path w="1172600" h="240486">
                  <a:moveTo>
                    <a:pt x="45145" y="0"/>
                  </a:moveTo>
                  <a:lnTo>
                    <a:pt x="1127455" y="0"/>
                  </a:lnTo>
                  <a:cubicBezTo>
                    <a:pt x="1152388" y="0"/>
                    <a:pt x="1172600" y="20212"/>
                    <a:pt x="1172600" y="45145"/>
                  </a:cubicBezTo>
                  <a:lnTo>
                    <a:pt x="1172600" y="195340"/>
                  </a:lnTo>
                  <a:cubicBezTo>
                    <a:pt x="1172600" y="207314"/>
                    <a:pt x="1167844" y="218797"/>
                    <a:pt x="1159377" y="227263"/>
                  </a:cubicBezTo>
                  <a:cubicBezTo>
                    <a:pt x="1150911" y="235729"/>
                    <a:pt x="1139428" y="240486"/>
                    <a:pt x="1127455" y="240486"/>
                  </a:cubicBezTo>
                  <a:lnTo>
                    <a:pt x="45145" y="240486"/>
                  </a:lnTo>
                  <a:cubicBezTo>
                    <a:pt x="33172" y="240486"/>
                    <a:pt x="21689" y="235729"/>
                    <a:pt x="13223" y="227263"/>
                  </a:cubicBezTo>
                  <a:cubicBezTo>
                    <a:pt x="4756" y="218797"/>
                    <a:pt x="0" y="207314"/>
                    <a:pt x="0" y="195340"/>
                  </a:cubicBezTo>
                  <a:lnTo>
                    <a:pt x="0" y="45145"/>
                  </a:lnTo>
                  <a:cubicBezTo>
                    <a:pt x="0" y="33172"/>
                    <a:pt x="4756" y="21689"/>
                    <a:pt x="13223" y="13223"/>
                  </a:cubicBezTo>
                  <a:cubicBezTo>
                    <a:pt x="21689" y="4756"/>
                    <a:pt x="33172" y="0"/>
                    <a:pt x="45145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1172600" cy="335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510739" y="3518034"/>
            <a:ext cx="2866020" cy="347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1"/>
              </a:lnSpc>
            </a:pPr>
            <a:r>
              <a:rPr lang="en-US" sz="2264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USER ACTIONS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57152" y="4188398"/>
            <a:ext cx="4302788" cy="2577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HR Head reviews the submitted claim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Policy non-compliance or invalid documentation identified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1598286" y="4053023"/>
            <a:ext cx="5609800" cy="4404585"/>
            <a:chOff x="0" y="0"/>
            <a:chExt cx="1801086" cy="141413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01086" cy="1414139"/>
            </a:xfrm>
            <a:custGeom>
              <a:avLst/>
              <a:gdLst/>
              <a:ahLst/>
              <a:cxnLst/>
              <a:rect l="l" t="t" r="r" b="b"/>
              <a:pathLst>
                <a:path w="1801086" h="1414139">
                  <a:moveTo>
                    <a:pt x="34502" y="0"/>
                  </a:moveTo>
                  <a:lnTo>
                    <a:pt x="1766585" y="0"/>
                  </a:lnTo>
                  <a:cubicBezTo>
                    <a:pt x="1775735" y="0"/>
                    <a:pt x="1784511" y="3635"/>
                    <a:pt x="1790981" y="10105"/>
                  </a:cubicBezTo>
                  <a:cubicBezTo>
                    <a:pt x="1797451" y="16576"/>
                    <a:pt x="1801086" y="25351"/>
                    <a:pt x="1801086" y="34502"/>
                  </a:cubicBezTo>
                  <a:lnTo>
                    <a:pt x="1801086" y="1379637"/>
                  </a:lnTo>
                  <a:cubicBezTo>
                    <a:pt x="1801086" y="1398692"/>
                    <a:pt x="1785639" y="1414139"/>
                    <a:pt x="1766585" y="1414139"/>
                  </a:cubicBezTo>
                  <a:lnTo>
                    <a:pt x="34502" y="1414139"/>
                  </a:lnTo>
                  <a:cubicBezTo>
                    <a:pt x="25351" y="1414139"/>
                    <a:pt x="16576" y="1410504"/>
                    <a:pt x="10105" y="1404034"/>
                  </a:cubicBezTo>
                  <a:cubicBezTo>
                    <a:pt x="3635" y="1397564"/>
                    <a:pt x="0" y="1388788"/>
                    <a:pt x="0" y="1379637"/>
                  </a:cubicBezTo>
                  <a:lnTo>
                    <a:pt x="0" y="34502"/>
                  </a:lnTo>
                  <a:cubicBezTo>
                    <a:pt x="0" y="25351"/>
                    <a:pt x="3635" y="16576"/>
                    <a:pt x="10105" y="10105"/>
                  </a:cubicBezTo>
                  <a:cubicBezTo>
                    <a:pt x="16576" y="3635"/>
                    <a:pt x="25351" y="0"/>
                    <a:pt x="34502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801086" cy="150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02946" y="3303989"/>
            <a:ext cx="3652269" cy="749035"/>
            <a:chOff x="0" y="0"/>
            <a:chExt cx="1172600" cy="2404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72600" cy="240486"/>
            </a:xfrm>
            <a:custGeom>
              <a:avLst/>
              <a:gdLst/>
              <a:ahLst/>
              <a:cxnLst/>
              <a:rect l="l" t="t" r="r" b="b"/>
              <a:pathLst>
                <a:path w="1172600" h="240486">
                  <a:moveTo>
                    <a:pt x="44515" y="0"/>
                  </a:moveTo>
                  <a:lnTo>
                    <a:pt x="1128085" y="0"/>
                  </a:lnTo>
                  <a:cubicBezTo>
                    <a:pt x="1152670" y="0"/>
                    <a:pt x="1172600" y="19930"/>
                    <a:pt x="1172600" y="44515"/>
                  </a:cubicBezTo>
                  <a:lnTo>
                    <a:pt x="1172600" y="195971"/>
                  </a:lnTo>
                  <a:cubicBezTo>
                    <a:pt x="1172600" y="220556"/>
                    <a:pt x="1152670" y="240486"/>
                    <a:pt x="1128085" y="240486"/>
                  </a:cubicBezTo>
                  <a:lnTo>
                    <a:pt x="44515" y="240486"/>
                  </a:lnTo>
                  <a:cubicBezTo>
                    <a:pt x="19930" y="240486"/>
                    <a:pt x="0" y="220556"/>
                    <a:pt x="0" y="195971"/>
                  </a:cubicBezTo>
                  <a:lnTo>
                    <a:pt x="0" y="44515"/>
                  </a:lnTo>
                  <a:cubicBezTo>
                    <a:pt x="0" y="19930"/>
                    <a:pt x="19930" y="0"/>
                    <a:pt x="44515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1172600" cy="335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025682" y="4202675"/>
            <a:ext cx="4755008" cy="2577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Claim status updated to Rejected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Claimant notified via email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Claim is closed with no further processing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61616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689830" y="3530725"/>
            <a:ext cx="3279436" cy="342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2296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SYSTEM ACTIONS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35757" y="8790983"/>
            <a:ext cx="1070101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616161"/>
                </a:solidFill>
                <a:latin typeface="Agrandir"/>
                <a:ea typeface="Agrandir"/>
                <a:cs typeface="Agrandir"/>
                <a:sym typeface="Agrandir"/>
              </a:rPr>
              <a:t>Ensures strict policy compliance and clear closure of non-eligible claims.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35757" y="1332318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13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0647" y="3311486"/>
            <a:ext cx="16866706" cy="3952032"/>
          </a:xfrm>
          <a:custGeom>
            <a:avLst/>
            <a:gdLst/>
            <a:ahLst/>
            <a:cxnLst/>
            <a:rect l="l" t="t" r="r" b="b"/>
            <a:pathLst>
              <a:path w="16866706" h="3952032">
                <a:moveTo>
                  <a:pt x="0" y="0"/>
                </a:moveTo>
                <a:lnTo>
                  <a:pt x="16866706" y="0"/>
                </a:lnTo>
                <a:lnTo>
                  <a:pt x="16866706" y="3952031"/>
                </a:lnTo>
                <a:lnTo>
                  <a:pt x="0" y="39520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35757" y="1966683"/>
            <a:ext cx="11861130" cy="120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STATE FLOW DIAGRAM</a:t>
            </a:r>
          </a:p>
          <a:p>
            <a:pPr algn="l">
              <a:lnSpc>
                <a:spcPts val="4170"/>
              </a:lnSpc>
            </a:pPr>
            <a:endParaRPr lang="en-US" sz="4299" b="1">
              <a:solidFill>
                <a:srgbClr val="242424"/>
              </a:solidFill>
              <a:latin typeface="Agrandir Grand Heavy"/>
              <a:ea typeface="Agrandir Grand Heavy"/>
              <a:cs typeface="Agrandir Grand Heavy"/>
              <a:sym typeface="Agrandir Grand Heavy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35757" y="1244556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05833" y="2702744"/>
            <a:ext cx="12276335" cy="5490382"/>
            <a:chOff x="0" y="0"/>
            <a:chExt cx="3233273" cy="14460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33273" cy="1446027"/>
            </a:xfrm>
            <a:custGeom>
              <a:avLst/>
              <a:gdLst/>
              <a:ahLst/>
              <a:cxnLst/>
              <a:rect l="l" t="t" r="r" b="b"/>
              <a:pathLst>
                <a:path w="3233273" h="1446027">
                  <a:moveTo>
                    <a:pt x="18288" y="0"/>
                  </a:moveTo>
                  <a:lnTo>
                    <a:pt x="3214985" y="0"/>
                  </a:lnTo>
                  <a:cubicBezTo>
                    <a:pt x="3225085" y="0"/>
                    <a:pt x="3233273" y="8188"/>
                    <a:pt x="3233273" y="18288"/>
                  </a:cubicBezTo>
                  <a:lnTo>
                    <a:pt x="3233273" y="1427738"/>
                  </a:lnTo>
                  <a:cubicBezTo>
                    <a:pt x="3233273" y="1437838"/>
                    <a:pt x="3225085" y="1446027"/>
                    <a:pt x="3214985" y="1446027"/>
                  </a:cubicBezTo>
                  <a:lnTo>
                    <a:pt x="18288" y="1446027"/>
                  </a:lnTo>
                  <a:cubicBezTo>
                    <a:pt x="13438" y="1446027"/>
                    <a:pt x="8786" y="1444100"/>
                    <a:pt x="5357" y="1440670"/>
                  </a:cubicBezTo>
                  <a:cubicBezTo>
                    <a:pt x="1927" y="1437240"/>
                    <a:pt x="0" y="1432589"/>
                    <a:pt x="0" y="1427738"/>
                  </a:cubicBezTo>
                  <a:lnTo>
                    <a:pt x="0" y="18288"/>
                  </a:lnTo>
                  <a:cubicBezTo>
                    <a:pt x="0" y="8188"/>
                    <a:pt x="8188" y="0"/>
                    <a:pt x="18288" y="0"/>
                  </a:cubicBezTo>
                  <a:close/>
                </a:path>
              </a:pathLst>
            </a:custGeom>
            <a:solidFill>
              <a:srgbClr val="640F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3233273" cy="1541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735437" y="1500817"/>
            <a:ext cx="12242413" cy="120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KEY AUTOMATION &amp; GOVERNANCE CONTROLS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07382" y="3640725"/>
            <a:ext cx="11698524" cy="345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Automated routing between Employee, HR, and Finance</a:t>
            </a:r>
          </a:p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Clear separation of duties across roles</a:t>
            </a:r>
          </a:p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Real-time balance updates upon payment confirmation</a:t>
            </a:r>
          </a:p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Full audit trail for compliance and reporting</a:t>
            </a:r>
          </a:p>
          <a:p>
            <a:pPr marL="690876" lvl="1" indent="-345438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Automated notifications at each stage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endParaRPr lang="en-US" sz="3199">
              <a:solidFill>
                <a:srgbClr val="FFFFFF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70442" y="777099"/>
            <a:ext cx="16668793" cy="12876643"/>
          </a:xfrm>
          <a:custGeom>
            <a:avLst/>
            <a:gdLst/>
            <a:ahLst/>
            <a:cxnLst/>
            <a:rect l="l" t="t" r="r" b="b"/>
            <a:pathLst>
              <a:path w="16668793" h="12876643">
                <a:moveTo>
                  <a:pt x="0" y="0"/>
                </a:moveTo>
                <a:lnTo>
                  <a:pt x="16668793" y="0"/>
                </a:lnTo>
                <a:lnTo>
                  <a:pt x="16668793" y="12876643"/>
                </a:lnTo>
                <a:lnTo>
                  <a:pt x="0" y="12876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883760" y="1661951"/>
            <a:ext cx="12910869" cy="1465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5195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HIGH LEVEL ARCHITECTURE DIAGRAM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83760" y="1093940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15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21585" y="849630"/>
            <a:ext cx="12755017" cy="9856149"/>
          </a:xfrm>
          <a:custGeom>
            <a:avLst/>
            <a:gdLst/>
            <a:ahLst/>
            <a:cxnLst/>
            <a:rect l="l" t="t" r="r" b="b"/>
            <a:pathLst>
              <a:path w="12755017" h="9856149">
                <a:moveTo>
                  <a:pt x="0" y="0"/>
                </a:moveTo>
                <a:lnTo>
                  <a:pt x="12755017" y="0"/>
                </a:lnTo>
                <a:lnTo>
                  <a:pt x="12755017" y="9856149"/>
                </a:lnTo>
                <a:lnTo>
                  <a:pt x="0" y="9856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256954" y="1330112"/>
            <a:ext cx="12910869" cy="1465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5195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DEPLOYMENT ARCHITECTURE DIAGRAM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6954" y="725805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16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668205" flipH="1" flipV="1">
            <a:off x="-613771" y="3287616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10474737" y="14625105"/>
                </a:moveTo>
                <a:lnTo>
                  <a:pt x="0" y="14625105"/>
                </a:lnTo>
                <a:lnTo>
                  <a:pt x="0" y="0"/>
                </a:lnTo>
                <a:lnTo>
                  <a:pt x="10474737" y="0"/>
                </a:lnTo>
                <a:lnTo>
                  <a:pt x="10474737" y="146251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68857" y="3311486"/>
            <a:ext cx="4963344" cy="3249104"/>
            <a:chOff x="0" y="0"/>
            <a:chExt cx="1307218" cy="8557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7218" cy="855731"/>
            </a:xfrm>
            <a:custGeom>
              <a:avLst/>
              <a:gdLst/>
              <a:ahLst/>
              <a:cxnLst/>
              <a:rect l="l" t="t" r="r" b="b"/>
              <a:pathLst>
                <a:path w="1307218" h="855731">
                  <a:moveTo>
                    <a:pt x="38995" y="0"/>
                  </a:moveTo>
                  <a:lnTo>
                    <a:pt x="1268223" y="0"/>
                  </a:lnTo>
                  <a:cubicBezTo>
                    <a:pt x="1289759" y="0"/>
                    <a:pt x="1307218" y="17459"/>
                    <a:pt x="1307218" y="38995"/>
                  </a:cubicBezTo>
                  <a:lnTo>
                    <a:pt x="1307218" y="816736"/>
                  </a:lnTo>
                  <a:cubicBezTo>
                    <a:pt x="1307218" y="838272"/>
                    <a:pt x="1289759" y="855731"/>
                    <a:pt x="1268223" y="855731"/>
                  </a:cubicBezTo>
                  <a:lnTo>
                    <a:pt x="38995" y="855731"/>
                  </a:lnTo>
                  <a:cubicBezTo>
                    <a:pt x="17459" y="855731"/>
                    <a:pt x="0" y="838272"/>
                    <a:pt x="0" y="816736"/>
                  </a:cubicBezTo>
                  <a:lnTo>
                    <a:pt x="0" y="38995"/>
                  </a:lnTo>
                  <a:cubicBezTo>
                    <a:pt x="0" y="17459"/>
                    <a:pt x="17459" y="0"/>
                    <a:pt x="38995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307218" cy="950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29435" lvl="1" indent="-214717" algn="ctr">
                <a:lnSpc>
                  <a:spcPts val="2784"/>
                </a:lnSpc>
                <a:buFont typeface="Arial"/>
                <a:buChar char="•"/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992818" y="3311486"/>
            <a:ext cx="4963344" cy="3249104"/>
            <a:chOff x="0" y="0"/>
            <a:chExt cx="1307218" cy="8557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7218" cy="855731"/>
            </a:xfrm>
            <a:custGeom>
              <a:avLst/>
              <a:gdLst/>
              <a:ahLst/>
              <a:cxnLst/>
              <a:rect l="l" t="t" r="r" b="b"/>
              <a:pathLst>
                <a:path w="1307218" h="855731">
                  <a:moveTo>
                    <a:pt x="38995" y="0"/>
                  </a:moveTo>
                  <a:lnTo>
                    <a:pt x="1268223" y="0"/>
                  </a:lnTo>
                  <a:cubicBezTo>
                    <a:pt x="1289759" y="0"/>
                    <a:pt x="1307218" y="17459"/>
                    <a:pt x="1307218" y="38995"/>
                  </a:cubicBezTo>
                  <a:lnTo>
                    <a:pt x="1307218" y="816736"/>
                  </a:lnTo>
                  <a:cubicBezTo>
                    <a:pt x="1307218" y="838272"/>
                    <a:pt x="1289759" y="855731"/>
                    <a:pt x="1268223" y="855731"/>
                  </a:cubicBezTo>
                  <a:lnTo>
                    <a:pt x="38995" y="855731"/>
                  </a:lnTo>
                  <a:cubicBezTo>
                    <a:pt x="17459" y="855731"/>
                    <a:pt x="0" y="838272"/>
                    <a:pt x="0" y="816736"/>
                  </a:cubicBezTo>
                  <a:lnTo>
                    <a:pt x="0" y="38995"/>
                  </a:lnTo>
                  <a:cubicBezTo>
                    <a:pt x="0" y="17459"/>
                    <a:pt x="17459" y="0"/>
                    <a:pt x="38995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1307218" cy="950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29435" lvl="1" indent="-214717" algn="ctr">
                <a:lnSpc>
                  <a:spcPts val="2784"/>
                </a:lnSpc>
                <a:buFont typeface="Arial"/>
                <a:buChar char="•"/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80837" y="3311486"/>
            <a:ext cx="4963344" cy="3249104"/>
            <a:chOff x="0" y="0"/>
            <a:chExt cx="1307218" cy="85573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7218" cy="855731"/>
            </a:xfrm>
            <a:custGeom>
              <a:avLst/>
              <a:gdLst/>
              <a:ahLst/>
              <a:cxnLst/>
              <a:rect l="l" t="t" r="r" b="b"/>
              <a:pathLst>
                <a:path w="1307218" h="855731">
                  <a:moveTo>
                    <a:pt x="38995" y="0"/>
                  </a:moveTo>
                  <a:lnTo>
                    <a:pt x="1268223" y="0"/>
                  </a:lnTo>
                  <a:cubicBezTo>
                    <a:pt x="1289759" y="0"/>
                    <a:pt x="1307218" y="17459"/>
                    <a:pt x="1307218" y="38995"/>
                  </a:cubicBezTo>
                  <a:lnTo>
                    <a:pt x="1307218" y="816736"/>
                  </a:lnTo>
                  <a:cubicBezTo>
                    <a:pt x="1307218" y="838272"/>
                    <a:pt x="1289759" y="855731"/>
                    <a:pt x="1268223" y="855731"/>
                  </a:cubicBezTo>
                  <a:lnTo>
                    <a:pt x="38995" y="855731"/>
                  </a:lnTo>
                  <a:cubicBezTo>
                    <a:pt x="17459" y="855731"/>
                    <a:pt x="0" y="838272"/>
                    <a:pt x="0" y="816736"/>
                  </a:cubicBezTo>
                  <a:lnTo>
                    <a:pt x="0" y="38995"/>
                  </a:lnTo>
                  <a:cubicBezTo>
                    <a:pt x="0" y="17459"/>
                    <a:pt x="17459" y="0"/>
                    <a:pt x="38995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1307218" cy="950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29435" lvl="1" indent="-214717" algn="ctr">
                <a:lnSpc>
                  <a:spcPts val="2784"/>
                </a:lnSpc>
                <a:buFont typeface="Arial"/>
                <a:buChar char="•"/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77388" y="3751936"/>
            <a:ext cx="1427288" cy="1427288"/>
          </a:xfrm>
          <a:custGeom>
            <a:avLst/>
            <a:gdLst/>
            <a:ahLst/>
            <a:cxnLst/>
            <a:rect l="l" t="t" r="r" b="b"/>
            <a:pathLst>
              <a:path w="1427288" h="1427288">
                <a:moveTo>
                  <a:pt x="0" y="0"/>
                </a:moveTo>
                <a:lnTo>
                  <a:pt x="1427288" y="0"/>
                </a:lnTo>
                <a:lnTo>
                  <a:pt x="1427288" y="1427289"/>
                </a:lnTo>
                <a:lnTo>
                  <a:pt x="0" y="1427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4085091" y="3751936"/>
            <a:ext cx="1391564" cy="1391564"/>
          </a:xfrm>
          <a:custGeom>
            <a:avLst/>
            <a:gdLst/>
            <a:ahLst/>
            <a:cxnLst/>
            <a:rect l="l" t="t" r="r" b="b"/>
            <a:pathLst>
              <a:path w="1391564" h="1391564">
                <a:moveTo>
                  <a:pt x="0" y="0"/>
                </a:moveTo>
                <a:lnTo>
                  <a:pt x="1391563" y="0"/>
                </a:lnTo>
                <a:lnTo>
                  <a:pt x="1391563" y="1391564"/>
                </a:lnTo>
                <a:lnTo>
                  <a:pt x="0" y="13915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7313325" y="3698984"/>
            <a:ext cx="1497468" cy="1497468"/>
          </a:xfrm>
          <a:custGeom>
            <a:avLst/>
            <a:gdLst/>
            <a:ahLst/>
            <a:cxnLst/>
            <a:rect l="l" t="t" r="r" b="b"/>
            <a:pathLst>
              <a:path w="1497468" h="1497468">
                <a:moveTo>
                  <a:pt x="0" y="0"/>
                </a:moveTo>
                <a:lnTo>
                  <a:pt x="1497468" y="0"/>
                </a:lnTo>
                <a:lnTo>
                  <a:pt x="1497468" y="1497468"/>
                </a:lnTo>
                <a:lnTo>
                  <a:pt x="0" y="1497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0064988" y="3652675"/>
            <a:ext cx="1497468" cy="1497468"/>
          </a:xfrm>
          <a:custGeom>
            <a:avLst/>
            <a:gdLst/>
            <a:ahLst/>
            <a:cxnLst/>
            <a:rect l="l" t="t" r="r" b="b"/>
            <a:pathLst>
              <a:path w="1497468" h="1497468">
                <a:moveTo>
                  <a:pt x="0" y="0"/>
                </a:moveTo>
                <a:lnTo>
                  <a:pt x="1497467" y="0"/>
                </a:lnTo>
                <a:lnTo>
                  <a:pt x="1497467" y="1497467"/>
                </a:lnTo>
                <a:lnTo>
                  <a:pt x="0" y="14974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3369850" y="3705627"/>
            <a:ext cx="1444516" cy="1444516"/>
          </a:xfrm>
          <a:custGeom>
            <a:avLst/>
            <a:gdLst/>
            <a:ahLst/>
            <a:cxnLst/>
            <a:rect l="l" t="t" r="r" b="b"/>
            <a:pathLst>
              <a:path w="1444516" h="1444516">
                <a:moveTo>
                  <a:pt x="0" y="0"/>
                </a:moveTo>
                <a:lnTo>
                  <a:pt x="1444516" y="0"/>
                </a:lnTo>
                <a:lnTo>
                  <a:pt x="1444516" y="1444515"/>
                </a:lnTo>
                <a:lnTo>
                  <a:pt x="0" y="14445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5862116" y="3681757"/>
            <a:ext cx="1497468" cy="1497468"/>
          </a:xfrm>
          <a:custGeom>
            <a:avLst/>
            <a:gdLst/>
            <a:ahLst/>
            <a:cxnLst/>
            <a:rect l="l" t="t" r="r" b="b"/>
            <a:pathLst>
              <a:path w="1497468" h="1497468">
                <a:moveTo>
                  <a:pt x="0" y="0"/>
                </a:moveTo>
                <a:lnTo>
                  <a:pt x="1497467" y="0"/>
                </a:lnTo>
                <a:lnTo>
                  <a:pt x="1497467" y="1497468"/>
                </a:lnTo>
                <a:lnTo>
                  <a:pt x="0" y="1497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985808" y="3132712"/>
            <a:ext cx="2929441" cy="2929441"/>
          </a:xfrm>
          <a:custGeom>
            <a:avLst/>
            <a:gdLst/>
            <a:ahLst/>
            <a:cxnLst/>
            <a:rect l="l" t="t" r="r" b="b"/>
            <a:pathLst>
              <a:path w="2929441" h="2929441">
                <a:moveTo>
                  <a:pt x="0" y="0"/>
                </a:moveTo>
                <a:lnTo>
                  <a:pt x="2929441" y="0"/>
                </a:lnTo>
                <a:lnTo>
                  <a:pt x="2929441" y="2929441"/>
                </a:lnTo>
                <a:lnTo>
                  <a:pt x="0" y="29294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635757" y="1966683"/>
            <a:ext cx="9177965" cy="120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AWS SERVICES AND ALTERNATIVES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35757" y="1370742"/>
            <a:ext cx="132704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17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5629275"/>
            <a:ext cx="1993940" cy="397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Lambda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38260" y="5629275"/>
            <a:ext cx="1993940" cy="397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EC2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65089" y="5665000"/>
            <a:ext cx="1993940" cy="397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DocumentDB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16752" y="5629275"/>
            <a:ext cx="1993940" cy="397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DynamoDB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095138" y="5629275"/>
            <a:ext cx="1993940" cy="397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API gateway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613880" y="5618823"/>
            <a:ext cx="1993940" cy="397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ALB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009769" y="3168611"/>
            <a:ext cx="2929441" cy="2929441"/>
          </a:xfrm>
          <a:custGeom>
            <a:avLst/>
            <a:gdLst/>
            <a:ahLst/>
            <a:cxnLst/>
            <a:rect l="l" t="t" r="r" b="b"/>
            <a:pathLst>
              <a:path w="2929441" h="2929441">
                <a:moveTo>
                  <a:pt x="0" y="0"/>
                </a:moveTo>
                <a:lnTo>
                  <a:pt x="2929441" y="0"/>
                </a:lnTo>
                <a:lnTo>
                  <a:pt x="2929441" y="2929441"/>
                </a:lnTo>
                <a:lnTo>
                  <a:pt x="0" y="29294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7884281" y="3168611"/>
            <a:ext cx="2929441" cy="2929441"/>
          </a:xfrm>
          <a:custGeom>
            <a:avLst/>
            <a:gdLst/>
            <a:ahLst/>
            <a:cxnLst/>
            <a:rect l="l" t="t" r="r" b="b"/>
            <a:pathLst>
              <a:path w="2929441" h="2929441">
                <a:moveTo>
                  <a:pt x="0" y="0"/>
                </a:moveTo>
                <a:lnTo>
                  <a:pt x="2929441" y="0"/>
                </a:lnTo>
                <a:lnTo>
                  <a:pt x="2929441" y="2929441"/>
                </a:lnTo>
                <a:lnTo>
                  <a:pt x="0" y="29294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6994" y="-3259468"/>
            <a:ext cx="10474737" cy="14625104"/>
          </a:xfrm>
          <a:custGeom>
            <a:avLst/>
            <a:gdLst/>
            <a:ahLst/>
            <a:cxnLst/>
            <a:rect l="l" t="t" r="r" b="b"/>
            <a:pathLst>
              <a:path w="10474737" h="14625104">
                <a:moveTo>
                  <a:pt x="0" y="0"/>
                </a:moveTo>
                <a:lnTo>
                  <a:pt x="10474737" y="0"/>
                </a:lnTo>
                <a:lnTo>
                  <a:pt x="10474737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230686" y="2403896"/>
            <a:ext cx="9826629" cy="291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8"/>
              </a:lnSpc>
            </a:pPr>
            <a:r>
              <a:rPr lang="en-US" sz="14670" b="1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THANK</a:t>
            </a:r>
          </a:p>
        </p:txBody>
      </p:sp>
      <p:sp>
        <p:nvSpPr>
          <p:cNvPr id="4" name="TextBox 4"/>
          <p:cNvSpPr txBox="1"/>
          <p:nvPr/>
        </p:nvSpPr>
        <p:spPr>
          <a:xfrm rot="-273479">
            <a:off x="5636278" y="3857182"/>
            <a:ext cx="7012091" cy="289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7"/>
              </a:lnSpc>
            </a:pPr>
            <a:r>
              <a:rPr lang="en-US" sz="16669">
                <a:solidFill>
                  <a:srgbClr val="640F9F"/>
                </a:solidFill>
                <a:latin typeface="Palm Club"/>
                <a:ea typeface="Palm Club"/>
                <a:cs typeface="Palm Club"/>
                <a:sym typeface="Palm Club"/>
              </a:rPr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1306</Words>
  <Application>Microsoft Office PowerPoint</Application>
  <PresentationFormat>Custom</PresentationFormat>
  <Paragraphs>281</Paragraphs>
  <Slides>27</Slides>
  <Notes>13</Notes>
  <HiddenSlides>8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Agrandir Bold</vt:lpstr>
      <vt:lpstr>Agrandir Grand Heavy</vt:lpstr>
      <vt:lpstr>Arial</vt:lpstr>
      <vt:lpstr>Calibri</vt:lpstr>
      <vt:lpstr>Palm Club</vt:lpstr>
      <vt:lpstr>Agrandir Grand Bold</vt:lpstr>
      <vt:lpstr>Agrandir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Wellness Benefit Administration Portal </dc:title>
  <cp:lastModifiedBy>Ashan O</cp:lastModifiedBy>
  <cp:revision>2</cp:revision>
  <dcterms:created xsi:type="dcterms:W3CDTF">2006-08-16T00:00:00Z</dcterms:created>
  <dcterms:modified xsi:type="dcterms:W3CDTF">2026-10-01T13:54:33Z</dcterms:modified>
  <dc:identifier>DAG9ob3pq7U</dc:identifier>
</cp:coreProperties>
</file>